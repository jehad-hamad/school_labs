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663A-DD0C-E564-1F68-51DABE09C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8E4B0-056F-C94F-8A55-F062A81B9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1AB8-F1ED-7731-ED17-79435B1B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8AF8F-29ED-5439-C85E-CDAF2545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2D45D-0013-EFBC-234E-626F03A5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73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DA6F-05AD-3791-8C06-ADA1C973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F2051-4E22-9DCB-C10A-5A593E90C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1EDC-AE85-311C-342F-DB5F3769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6DA99-C3F4-DA30-A828-D6D8F59A2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00359-9CBA-3F3B-71C5-A33E6EB2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21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A8FA-33DA-1B42-E1DB-8DDC706B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D6944-B365-2E5E-150F-C2600CF9B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298E-77A1-C9AF-8AC0-AF15CA2F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0C937-3346-522D-2EEC-BA80FC4E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281EC-1D4A-62A4-375E-98A3D11E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793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B3FB-B8C9-F24D-1C4E-DA460617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FA9EE-A559-5641-39B5-C9F1EC925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18830-1344-6256-9E9B-FCFCFBDCC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3731E-CA7C-795E-EA89-81B96D79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37E5-8444-498A-62AA-FF6C0655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CF26F-BAD3-0BF2-A2A0-7F932258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483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B22-DC1D-0FC5-8ED5-457919B9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397D5-42EB-F8D1-0D2F-A21B0C416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93BB2-3108-18D7-8479-4FE521ECB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4DFAC-7D6C-2842-1C90-A5B4BE728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8E5CD-7576-D297-D1CA-7FADEAEBE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422CD-B1CA-57C2-E30E-6FAE0278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80518-485C-AA54-6839-9FDFC82A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B16A2-9106-92C8-4D6E-4EDFB12D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440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6CA8-98AC-FC1F-EE75-87CF4095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825B4-638B-71BF-CEFA-8043ECBA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D7388-CAA0-EDE0-B015-7B58DBBE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FD94D-F190-DF7B-24FE-2D42D9D3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83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053FE-FE43-DE85-AE55-3F9ADE99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B1CFA-7D15-8D20-0327-ACC738AB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6DADA-32F6-9231-E53E-148A391F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8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DB76-5154-8DB7-57F0-9C0D6A7C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0CE88-2074-5087-C7E3-29CF2680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03EFA-E80D-72CC-C42E-7B5563D72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BBA1E-2E18-CA3F-03B3-F2804872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FAB4B-510B-3C02-CA81-08C61F81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E66F-F7A5-3855-E29B-A2FF8AFD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60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E56A-EC22-8E94-96A2-B0381690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421E0-5A4C-5F9B-3757-4F79B41A6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06905-A2A5-DA61-488A-D1C45B61B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FCCBC-058F-DEA2-3F9E-4B662EA2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2D8CB-B904-1C76-9FC9-7EEC0CE5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7D116-7FB9-74FF-7D55-37479D9B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553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F2A7-1073-F51F-8B10-B5E5B923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94F9C-9CD2-AAB4-B0F4-B5C73AC9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CCAB8-1883-C71E-9B23-D4B0F6A6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AF47-A829-47E3-3796-D13A6E856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1436B-99B2-7332-ADFE-5F584C29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932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43A97-543A-428B-EB33-8CE5C1C11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97F9D-DFD7-5F32-C5D7-365DA1830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11904-82BD-514C-A96F-9B48372D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72BAB-9E5A-A46E-DEC7-CDF0EDD8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C0681-2843-4069-2271-9917D809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37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289B7-59FC-2128-04FA-06C9103C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A1CEF-A716-8F5D-BFB9-63CFFB5F3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1AF1-F52C-8CEE-36E7-5B4766C59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40E55-382C-4E15-82BC-174F8C26CC14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25707-3A8D-5A2A-4F6B-1949D2A8E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7C5C0-661E-CBD7-24DC-9464B5550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46818-981C-4B96-8E53-BFBD82EF93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808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13FE-00CB-41B1-C68A-B93AAF39B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Hierarchical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824C1-5490-FA43-14AE-D2386BACD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219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A5895-CCF7-CA75-9F60-B96BE185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3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Many objects in 3D graphics, game characters, robots, and so on, consist of more than one object or </a:t>
            </a:r>
            <a:r>
              <a:rPr lang="en-US" sz="3600" dirty="0" err="1"/>
              <a:t>segment.s</a:t>
            </a:r>
            <a:endParaRPr lang="en-CA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30D53-8BB1-73F8-4A79-53495C45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972" b="8127"/>
          <a:stretch>
            <a:fillRect/>
          </a:stretch>
        </p:blipFill>
        <p:spPr>
          <a:xfrm>
            <a:off x="4547518" y="2748153"/>
            <a:ext cx="3965928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3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4C6AA2-6182-007B-B33B-67C9BD24F955}"/>
              </a:ext>
            </a:extLst>
          </p:cNvPr>
          <p:cNvSpPr txBox="1"/>
          <p:nvPr/>
        </p:nvSpPr>
        <p:spPr>
          <a:xfrm>
            <a:off x="257936" y="877735"/>
            <a:ext cx="118197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u="none" strike="noStrike" baseline="0" dirty="0">
                <a:latin typeface="StoneSerifStd-Medium"/>
              </a:rPr>
              <a:t>One of the key issues when drawing an object consisting of multiple objects (segments) is that you have to program to avoid conflicts when the segments move.</a:t>
            </a:r>
            <a:endParaRPr lang="en-CA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F55611-F957-E3FC-EC9D-982677711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790643"/>
            <a:ext cx="10382250" cy="367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D9EF-63B2-41F6-188D-79D3FF4E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18873"/>
            <a:ext cx="12060936" cy="1571816"/>
          </a:xfrm>
        </p:spPr>
        <p:txBody>
          <a:bodyPr>
            <a:normAutofit/>
          </a:bodyPr>
          <a:lstStyle/>
          <a:p>
            <a:r>
              <a:rPr lang="en-US" b="1" dirty="0"/>
              <a:t>Drawing and Manipulating Objects Composed of</a:t>
            </a:r>
            <a:br>
              <a:rPr lang="en-US" b="1" dirty="0"/>
            </a:br>
            <a:r>
              <a:rPr lang="en-CA" b="1" dirty="0"/>
              <a:t>Other Objects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4A763-F06A-4AF4-B913-60391F5EF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1207"/>
          </a:xfrm>
        </p:spPr>
        <p:txBody>
          <a:bodyPr>
            <a:normAutofit/>
          </a:bodyPr>
          <a:lstStyle/>
          <a:p>
            <a:r>
              <a:rPr lang="en-US" dirty="0"/>
              <a:t>When you move the upper arm by rotating around the shoulder joint, depending on the upper arm movement, the lower arm, palm, and fingers move (the middle of </a:t>
            </a:r>
            <a:r>
              <a:rPr lang="en-CA" dirty="0"/>
              <a:t>Figure ) accordingly.</a:t>
            </a:r>
          </a:p>
          <a:p>
            <a:r>
              <a:rPr lang="en-US" dirty="0"/>
              <a:t>When you move the lower arm using an elbow joint, the palm and fingers move but the upper arm does not.</a:t>
            </a:r>
          </a:p>
          <a:p>
            <a:r>
              <a:rPr lang="en-US" dirty="0"/>
              <a:t>When you move the palm using the wrist joint, both palm and fingers move but the upper and lower arm do not (the right of Figure ).</a:t>
            </a:r>
          </a:p>
          <a:p>
            <a:r>
              <a:rPr lang="en-US" dirty="0"/>
              <a:t>When you move fingers, the upper arm, lower arm, and palm do not move.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780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69A479-95D3-6AE7-545D-9C6D7C5484D4}"/>
              </a:ext>
            </a:extLst>
          </p:cNvPr>
          <p:cNvSpPr txBox="1"/>
          <p:nvPr/>
        </p:nvSpPr>
        <p:spPr>
          <a:xfrm>
            <a:off x="347472" y="1180237"/>
            <a:ext cx="117591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0" i="0" u="none" strike="noStrike" baseline="0" dirty="0">
                <a:latin typeface="StoneSerifStd-Medium"/>
              </a:rPr>
              <a:t>The typical method used to draw and manipulate the object with such features is to draw each part object (such as a box) in the order of the object’s hierarchical structure from upper to lower, applying each </a:t>
            </a:r>
            <a:r>
              <a:rPr lang="en-US" sz="4000" b="0" i="0" u="none" strike="noStrike" baseline="0" dirty="0">
                <a:solidFill>
                  <a:srgbClr val="FF0000"/>
                </a:solidFill>
                <a:latin typeface="StoneSerifStd-Medium"/>
              </a:rPr>
              <a:t>model matrix (rotation matrix) </a:t>
            </a:r>
            <a:r>
              <a:rPr lang="en-US" sz="4000" b="0" i="0" u="none" strike="noStrike" baseline="0" dirty="0">
                <a:latin typeface="StoneSerifStd-Medium"/>
              </a:rPr>
              <a:t>at every joint.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344741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DEF1D5-AF76-4E41-536C-293DE1E2AAC4}"/>
              </a:ext>
            </a:extLst>
          </p:cNvPr>
          <p:cNvSpPr txBox="1"/>
          <p:nvPr/>
        </p:nvSpPr>
        <p:spPr>
          <a:xfrm>
            <a:off x="182880" y="1137196"/>
            <a:ext cx="11551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dirty="0">
                <a:latin typeface="StoneSerifStd-Medium"/>
              </a:rPr>
              <a:t>R</a:t>
            </a:r>
            <a:r>
              <a:rPr lang="en-US" sz="3600" b="0" i="0" u="none" strike="noStrike" baseline="0" dirty="0">
                <a:latin typeface="StoneSerifStd-Medium"/>
              </a:rPr>
              <a:t>otation of one segment propagates to the lower segments and simply requires that you use the same model matrix for the rotation </a:t>
            </a:r>
            <a:r>
              <a:rPr lang="en-CA" sz="3600" b="0" i="0" u="none" strike="noStrike" baseline="0" dirty="0">
                <a:latin typeface="StoneSerifStd-Medium"/>
              </a:rPr>
              <a:t>of the lower segments.</a:t>
            </a:r>
            <a:endParaRPr lang="en-CA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E503D-034D-3A1E-4AD1-AEF4A45E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828" y="4833274"/>
            <a:ext cx="4004024" cy="16062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B4B0A-AB7B-4199-CDD2-D2B7A4F0A586}"/>
              </a:ext>
            </a:extLst>
          </p:cNvPr>
          <p:cNvSpPr txBox="1"/>
          <p:nvPr/>
        </p:nvSpPr>
        <p:spPr>
          <a:xfrm>
            <a:off x="182880" y="2985235"/>
            <a:ext cx="11551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u="none" strike="noStrike" baseline="0" dirty="0">
                <a:latin typeface="StoneSerifStd-Medium"/>
              </a:rPr>
              <a:t>The upper segments are not affected by rotation of the lower segments. Thus, the upper segments will not move no matter how much the lower </a:t>
            </a:r>
            <a:r>
              <a:rPr lang="en-CA" sz="3600" b="0" i="0" u="none" strike="noStrike" baseline="0" dirty="0">
                <a:latin typeface="StoneSerifStd-Medium"/>
              </a:rPr>
              <a:t>segments move.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1760007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F84D-1D1C-8355-EABB-C1EADA11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Joint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276E0-9A98-8EA7-897E-53E06BBA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3" y="2177985"/>
            <a:ext cx="10706986" cy="352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9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8688C5-7FAA-A668-27A2-2CBD9ADAF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48" y="113981"/>
            <a:ext cx="10483703" cy="4657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513FEF-F24A-E06C-81DB-A6E02D19F2C0}"/>
              </a:ext>
            </a:extLst>
          </p:cNvPr>
          <p:cNvSpPr txBox="1"/>
          <p:nvPr/>
        </p:nvSpPr>
        <p:spPr>
          <a:xfrm>
            <a:off x="146304" y="5198471"/>
            <a:ext cx="130027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dirty="0">
                <a:latin typeface="StoneSerifStd-Medium"/>
              </a:rPr>
              <a:t>T</a:t>
            </a:r>
            <a:r>
              <a:rPr lang="en-US" sz="3200" b="0" i="0" u="none" strike="noStrike" baseline="0" dirty="0">
                <a:latin typeface="StoneSerifStd-Medium"/>
              </a:rPr>
              <a:t>he movement of arm2 by rotation of joint1 does not affect arm1.</a:t>
            </a:r>
          </a:p>
          <a:p>
            <a:pPr algn="l"/>
            <a:r>
              <a:rPr lang="en-US" sz="3200" b="0" i="0" u="none" strike="noStrike" baseline="0" dirty="0">
                <a:latin typeface="StoneSerifStd-Medium"/>
              </a:rPr>
              <a:t> In contrast, arm2 is rotated if you rotate arm1.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2424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0EFE5-1B4B-8B47-EFDE-27D05221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733647"/>
            <a:ext cx="10908791" cy="50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9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F6E5-659D-922E-709C-BCA20677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MultiJoint</a:t>
            </a:r>
            <a:r>
              <a:rPr lang="en-CA" dirty="0"/>
              <a:t>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D2095-AB3A-92BA-2BE0-831BF626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4" y="2082731"/>
            <a:ext cx="11554046" cy="441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29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310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StoneSerifStd-Medium</vt:lpstr>
      <vt:lpstr>Office Theme</vt:lpstr>
      <vt:lpstr>Hierarchical Objects</vt:lpstr>
      <vt:lpstr>PowerPoint Presentation</vt:lpstr>
      <vt:lpstr>PowerPoint Presentation</vt:lpstr>
      <vt:lpstr>Drawing and Manipulating Objects Composed of Other Objects</vt:lpstr>
      <vt:lpstr>PowerPoint Presentation</vt:lpstr>
      <vt:lpstr>PowerPoint Presentation</vt:lpstr>
      <vt:lpstr>Single Joint Model</vt:lpstr>
      <vt:lpstr>PowerPoint Presentation</vt:lpstr>
      <vt:lpstr>PowerPoint Presentation</vt:lpstr>
      <vt:lpstr>MultiJoint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Abbasi, Ubaid</dc:creator>
  <cp:lastModifiedBy>Abbasi, Ubaid</cp:lastModifiedBy>
  <cp:revision>12</cp:revision>
  <dcterms:created xsi:type="dcterms:W3CDTF">2025-11-27T16:26:06Z</dcterms:created>
  <dcterms:modified xsi:type="dcterms:W3CDTF">2025-11-27T17:47:35Z</dcterms:modified>
</cp:coreProperties>
</file>
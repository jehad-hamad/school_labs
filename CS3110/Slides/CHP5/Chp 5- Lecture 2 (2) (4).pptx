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5" r:id="rId46"/>
    <p:sldId id="356" r:id="rId47"/>
    <p:sldId id="357" r:id="rId48"/>
    <p:sldId id="358" r:id="rId49"/>
    <p:sldId id="359" r:id="rId50"/>
    <p:sldId id="360" r:id="rId51"/>
    <p:sldId id="361" r:id="rId52"/>
    <p:sldId id="362" r:id="rId53"/>
    <p:sldId id="363" r:id="rId54"/>
    <p:sldId id="364" r:id="rId55"/>
    <p:sldId id="365" r:id="rId56"/>
    <p:sldId id="366" r:id="rId57"/>
    <p:sldId id="367" r:id="rId58"/>
    <p:sldId id="368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basi, Ubaid" initials="AU" lastIdx="1" clrIdx="0">
    <p:extLst>
      <p:ext uri="{19B8F6BF-5375-455C-9EA6-DF929625EA0E}">
        <p15:presenceInfo xmlns:p15="http://schemas.microsoft.com/office/powerpoint/2012/main" userId="S-1-5-21-403264330-680266873-227697207-774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769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316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404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50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91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596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9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090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1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61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463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01C06-6985-402B-91F2-CB77C6E6F40B}" type="datetimeFigureOut">
              <a:rPr lang="en-CA" smtClean="0"/>
              <a:t>2021-10-19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532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0.jpeg"/><Relationship Id="rId4" Type="http://schemas.openxmlformats.org/officeDocument/2006/relationships/image" Target="../media/image49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6.jpg"/><Relationship Id="rId4" Type="http://schemas.openxmlformats.org/officeDocument/2006/relationships/image" Target="../media/image55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Introduction to Graphics</a:t>
            </a:r>
            <a:br>
              <a:rPr lang="en-US" sz="5400" b="1" dirty="0" smtClean="0"/>
            </a:br>
            <a:r>
              <a:rPr lang="en-US" sz="5400" b="1" dirty="0" smtClean="0"/>
              <a:t>CHP 5 Lecture 2</a:t>
            </a:r>
            <a:endParaRPr lang="en-CA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Geometric Shape Assembly &amp; Rasterization</a:t>
            </a:r>
          </a:p>
          <a:p>
            <a:endParaRPr lang="en-US" dirty="0"/>
          </a:p>
          <a:p>
            <a:r>
              <a:rPr lang="en-US" b="1" dirty="0" smtClean="0"/>
              <a:t>Dr. Ubaid Abbasi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76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583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Assembly and Rasterization</a:t>
            </a:r>
            <a:endParaRPr lang="en-CA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2693" y="1806498"/>
            <a:ext cx="1149319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 smtClean="0"/>
              <a:t>Geometric Shape Assembly Process</a:t>
            </a:r>
            <a:endParaRPr lang="en-US" sz="3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In this stage geometric shape is assembled from the specified vertex coordinates. The first argument of </a:t>
            </a:r>
            <a:r>
              <a:rPr lang="en-US" sz="3200" b="1" i="1" dirty="0" err="1"/>
              <a:t>gl.drawArray</a:t>
            </a:r>
            <a:r>
              <a:rPr lang="en-US" sz="3200" b="1" i="1" dirty="0"/>
              <a:t>() </a:t>
            </a:r>
            <a:r>
              <a:rPr lang="en-US" sz="3200" dirty="0"/>
              <a:t>specifies which type of shape should be assembled</a:t>
            </a:r>
            <a:r>
              <a:rPr lang="en-US" sz="3200" dirty="0" smtClean="0"/>
              <a:t>. Also called </a:t>
            </a:r>
            <a:r>
              <a:rPr lang="en-US" sz="3200" i="1" dirty="0" smtClean="0">
                <a:solidFill>
                  <a:srgbClr val="FF0000"/>
                </a:solidFill>
              </a:rPr>
              <a:t>primitive assembly process</a:t>
            </a:r>
            <a:r>
              <a:rPr lang="en-US" sz="3200" dirty="0" smtClean="0"/>
              <a:t>.</a:t>
            </a:r>
            <a:endParaRPr lang="en-CA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 </a:t>
            </a:r>
            <a:r>
              <a:rPr lang="en-US" sz="3600" b="1" dirty="0" smtClean="0"/>
              <a:t>Rasterization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 smtClean="0"/>
              <a:t> </a:t>
            </a:r>
            <a:r>
              <a:rPr lang="en-US" sz="3200" dirty="0" smtClean="0"/>
              <a:t>In this stage, the geometric shape assembled in the geometric assembly process is converted into fragments.</a:t>
            </a:r>
          </a:p>
          <a:p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94822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Assembly and Rasterization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980" y="4307849"/>
            <a:ext cx="7418040" cy="1959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62" y="2180501"/>
            <a:ext cx="6404063" cy="147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1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05" y="118945"/>
            <a:ext cx="7947102" cy="651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9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22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Fragment </a:t>
            </a:r>
            <a:r>
              <a:rPr lang="en-US" b="1" dirty="0" err="1" smtClean="0">
                <a:solidFill>
                  <a:srgbClr val="C00000"/>
                </a:solidFill>
              </a:rPr>
              <a:t>Shader</a:t>
            </a:r>
            <a:r>
              <a:rPr lang="en-US" b="1" dirty="0" smtClean="0">
                <a:solidFill>
                  <a:srgbClr val="C00000"/>
                </a:solidFill>
              </a:rPr>
              <a:t> Invocations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049" y="1571744"/>
            <a:ext cx="7434145" cy="495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9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905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Fragment </a:t>
            </a:r>
            <a:r>
              <a:rPr lang="en-US" b="1" dirty="0" err="1">
                <a:solidFill>
                  <a:srgbClr val="C00000"/>
                </a:solidFill>
              </a:rPr>
              <a:t>Shader</a:t>
            </a:r>
            <a:r>
              <a:rPr lang="en-US" b="1" dirty="0">
                <a:solidFill>
                  <a:srgbClr val="C00000"/>
                </a:solidFill>
              </a:rPr>
              <a:t> Invocations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818"/>
          <a:stretch/>
        </p:blipFill>
        <p:spPr>
          <a:xfrm>
            <a:off x="933083" y="2393794"/>
            <a:ext cx="9548144" cy="3393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83026"/>
            <a:ext cx="6036527" cy="1519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0351" y="6125737"/>
            <a:ext cx="973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solidFill>
                  <a:srgbClr val="FF0000"/>
                </a:solidFill>
              </a:rPr>
              <a:t>gl.drawingBufferWidth</a:t>
            </a:r>
            <a:r>
              <a:rPr lang="en-US" i="1" dirty="0" smtClean="0"/>
              <a:t> and </a:t>
            </a:r>
            <a:r>
              <a:rPr lang="en-US" i="1" dirty="0" err="1" smtClean="0">
                <a:solidFill>
                  <a:srgbClr val="FF0000"/>
                </a:solidFill>
              </a:rPr>
              <a:t>gl.drawingBufferHeight</a:t>
            </a:r>
            <a:r>
              <a:rPr lang="en-US" i="1" dirty="0" smtClean="0"/>
              <a:t> provides the width and height of Canvas</a:t>
            </a:r>
            <a:endParaRPr lang="en-CA" i="1" dirty="0"/>
          </a:p>
        </p:txBody>
      </p:sp>
      <p:sp>
        <p:nvSpPr>
          <p:cNvPr id="7" name="TextBox 6"/>
          <p:cNvSpPr txBox="1"/>
          <p:nvPr/>
        </p:nvSpPr>
        <p:spPr>
          <a:xfrm>
            <a:off x="-29731" y="1608912"/>
            <a:ext cx="7263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</a:rPr>
              <a:t>Can we control the coloring of each Fragment?</a:t>
            </a:r>
            <a:endParaRPr lang="en-CA" sz="2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2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59332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Color </a:t>
            </a:r>
            <a:r>
              <a:rPr lang="en-US" b="1" dirty="0">
                <a:solidFill>
                  <a:srgbClr val="C00000"/>
                </a:solidFill>
              </a:rPr>
              <a:t>Interpolation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5690"/>
          <a:stretch/>
        </p:blipFill>
        <p:spPr>
          <a:xfrm>
            <a:off x="2893036" y="1371026"/>
            <a:ext cx="6777633" cy="22494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6993"/>
          <a:stretch/>
        </p:blipFill>
        <p:spPr>
          <a:xfrm>
            <a:off x="2707183" y="3783980"/>
            <a:ext cx="6777633" cy="2183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0351" y="6125737"/>
            <a:ext cx="9731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How </a:t>
            </a:r>
            <a:r>
              <a:rPr lang="en-US" sz="2800" i="1" dirty="0" err="1" smtClean="0"/>
              <a:t>WebGL</a:t>
            </a:r>
            <a:r>
              <a:rPr lang="en-US" sz="2800" i="1" dirty="0" smtClean="0"/>
              <a:t> Handle different Colors for different Vertices? </a:t>
            </a:r>
            <a:endParaRPr lang="en-CA" sz="2800" i="1" dirty="0"/>
          </a:p>
        </p:txBody>
      </p:sp>
    </p:spTree>
    <p:extLst>
      <p:ext uri="{BB962C8B-B14F-4D97-AF65-F5344CB8AC3E}">
        <p14:creationId xmlns:p14="http://schemas.microsoft.com/office/powerpoint/2010/main" val="120356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59332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Color </a:t>
            </a:r>
            <a:r>
              <a:rPr lang="en-US" b="1" dirty="0">
                <a:solidFill>
                  <a:srgbClr val="C00000"/>
                </a:solidFill>
              </a:rPr>
              <a:t>Interpolation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76466"/>
            <a:ext cx="9361448" cy="2594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1563" y="4259766"/>
            <a:ext cx="6897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/>
              <a:t>This process is called </a:t>
            </a:r>
            <a:r>
              <a:rPr lang="en-US" sz="3200" b="1" i="1" dirty="0" smtClean="0">
                <a:solidFill>
                  <a:srgbClr val="FF0000"/>
                </a:solidFill>
              </a:rPr>
              <a:t>Color Interpolation</a:t>
            </a:r>
            <a:endParaRPr lang="en-CA" sz="3200" b="1" i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41327" y="3211551"/>
            <a:ext cx="750849" cy="914400"/>
          </a:xfrm>
          <a:prstGeom prst="straightConnector1">
            <a:avLst/>
          </a:prstGeom>
          <a:ln w="111125" cmpd="sng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2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b="1" dirty="0" smtClean="0">
                <a:solidFill>
                  <a:srgbClr val="C00000"/>
                </a:solidFill>
              </a:rPr>
              <a:t>Texture Mapping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6231673" cy="4351338"/>
          </a:xfrm>
        </p:spPr>
        <p:txBody>
          <a:bodyPr/>
          <a:lstStyle/>
          <a:p>
            <a:pPr algn="just"/>
            <a:r>
              <a:rPr lang="en-US" dirty="0" smtClean="0"/>
              <a:t> </a:t>
            </a:r>
            <a:r>
              <a:rPr lang="en-US" sz="3200" dirty="0" smtClean="0"/>
              <a:t>Drawing an image like this is very difficult using color interpolation.</a:t>
            </a:r>
          </a:p>
          <a:p>
            <a:pPr marL="0" indent="0" algn="just">
              <a:buNone/>
            </a:pPr>
            <a:endParaRPr lang="en-US" sz="3200" dirty="0" smtClean="0"/>
          </a:p>
          <a:p>
            <a:pPr algn="just"/>
            <a:r>
              <a:rPr lang="en-US" sz="3200" dirty="0"/>
              <a:t>The problem is resolved using a technique called </a:t>
            </a:r>
            <a:r>
              <a:rPr lang="en-US" sz="3200" b="1" dirty="0"/>
              <a:t>texture mapping </a:t>
            </a:r>
            <a:r>
              <a:rPr lang="en-US" sz="3200" dirty="0"/>
              <a:t>, </a:t>
            </a:r>
            <a:r>
              <a:rPr lang="en-US" sz="3200" dirty="0" smtClean="0"/>
              <a:t>which can </a:t>
            </a:r>
            <a:r>
              <a:rPr lang="en-US" sz="3200" dirty="0"/>
              <a:t>re-create the look of real-world materials.</a:t>
            </a:r>
            <a:r>
              <a:rPr lang="en-US" sz="3200" dirty="0" smtClean="0"/>
              <a:t> </a:t>
            </a:r>
            <a:endParaRPr lang="en-CA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063" y="2014616"/>
            <a:ext cx="4317518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1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57"/>
            <a:ext cx="10515600" cy="1325563"/>
          </a:xfrm>
        </p:spPr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Texture Mapping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72859"/>
            <a:ext cx="11190249" cy="5088135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 </a:t>
            </a:r>
            <a:r>
              <a:rPr lang="en-US" sz="3200" dirty="0"/>
              <a:t>The process is actually straightforward </a:t>
            </a:r>
            <a:r>
              <a:rPr lang="en-US" sz="3200" dirty="0" smtClean="0"/>
              <a:t>and consists </a:t>
            </a:r>
            <a:r>
              <a:rPr lang="en-US" sz="3200" dirty="0"/>
              <a:t>of pasting an image </a:t>
            </a:r>
            <a:r>
              <a:rPr lang="en-US" sz="3200" dirty="0" smtClean="0"/>
              <a:t>on </a:t>
            </a:r>
            <a:r>
              <a:rPr lang="en-US" sz="3200" dirty="0"/>
              <a:t>the surface of a geometrical shape</a:t>
            </a:r>
            <a:r>
              <a:rPr lang="en-US" sz="3200" dirty="0" smtClean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 smtClean="0"/>
              <a:t> </a:t>
            </a:r>
            <a:r>
              <a:rPr lang="en-CA" sz="3200" dirty="0"/>
              <a:t>By </a:t>
            </a:r>
            <a:r>
              <a:rPr lang="en-CA" sz="3200" dirty="0" smtClean="0"/>
              <a:t>pasting </a:t>
            </a:r>
            <a:r>
              <a:rPr lang="en-US" sz="3200" dirty="0" smtClean="0"/>
              <a:t>an </a:t>
            </a:r>
            <a:r>
              <a:rPr lang="en-US" sz="3200" dirty="0"/>
              <a:t>image from a real-world photograph on a rectangle made up of two triangles, you </a:t>
            </a:r>
            <a:r>
              <a:rPr lang="en-US" sz="3200" dirty="0" smtClean="0"/>
              <a:t>can give </a:t>
            </a:r>
            <a:r>
              <a:rPr lang="en-US" sz="3200" dirty="0"/>
              <a:t>the rectangle surface an appearance similar to that of a picture. The image is called </a:t>
            </a:r>
            <a:r>
              <a:rPr lang="en-US" sz="3200" dirty="0" smtClean="0"/>
              <a:t>a </a:t>
            </a:r>
            <a:r>
              <a:rPr lang="en-CA" sz="3200" b="1" dirty="0" smtClean="0"/>
              <a:t>texture </a:t>
            </a:r>
            <a:r>
              <a:rPr lang="en-CA" sz="3200" b="1" dirty="0"/>
              <a:t>image </a:t>
            </a:r>
            <a:r>
              <a:rPr lang="en-CA" sz="3200" dirty="0"/>
              <a:t>or a </a:t>
            </a:r>
            <a:r>
              <a:rPr lang="en-CA" sz="3200" b="1" dirty="0"/>
              <a:t>texture </a:t>
            </a:r>
            <a:r>
              <a:rPr lang="en-CA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031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990" y="0"/>
            <a:ext cx="10515600" cy="1325563"/>
          </a:xfrm>
        </p:spPr>
        <p:txBody>
          <a:bodyPr/>
          <a:lstStyle/>
          <a:p>
            <a:r>
              <a:rPr lang="en-CA" b="1" dirty="0" smtClean="0">
                <a:solidFill>
                  <a:srgbClr val="C00000"/>
                </a:solidFill>
              </a:rPr>
              <a:t>Process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role of the texture mapping process is to assign the texture image’s pixel colors to </a:t>
            </a:r>
            <a:r>
              <a:rPr lang="en-US" sz="3200" dirty="0" smtClean="0"/>
              <a:t>the fragments </a:t>
            </a:r>
            <a:r>
              <a:rPr lang="en-US" sz="3200" dirty="0"/>
              <a:t>generated by the rasterization </a:t>
            </a:r>
            <a:r>
              <a:rPr lang="en-US" sz="3200" dirty="0" smtClean="0"/>
              <a:t>process.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/>
              <a:t> </a:t>
            </a:r>
            <a:r>
              <a:rPr lang="en-CA" sz="3200" dirty="0" smtClean="0"/>
              <a:t>The </a:t>
            </a:r>
            <a:r>
              <a:rPr lang="en-US" sz="3200" dirty="0" smtClean="0"/>
              <a:t>pixels </a:t>
            </a:r>
            <a:r>
              <a:rPr lang="en-US" sz="3200" dirty="0"/>
              <a:t>that make up the texture image are called </a:t>
            </a:r>
            <a:r>
              <a:rPr lang="en-US" sz="3200" b="1" dirty="0" err="1">
                <a:solidFill>
                  <a:srgbClr val="C00000"/>
                </a:solidFill>
              </a:rPr>
              <a:t>texels</a:t>
            </a:r>
            <a:r>
              <a:rPr lang="en-US" sz="3200" b="1" dirty="0"/>
              <a:t> </a:t>
            </a:r>
            <a:r>
              <a:rPr lang="en-US" sz="3200" dirty="0"/>
              <a:t>(texture elements), and each </a:t>
            </a:r>
            <a:r>
              <a:rPr lang="en-US" sz="3200" dirty="0" err="1" smtClean="0"/>
              <a:t>texel</a:t>
            </a:r>
            <a:r>
              <a:rPr lang="en-US" sz="3200" dirty="0"/>
              <a:t> </a:t>
            </a:r>
            <a:r>
              <a:rPr lang="en-US" sz="3200" dirty="0" smtClean="0"/>
              <a:t>codes its color information in the RGB or RGBA format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06128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91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Four Steps for Mapping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Texture mapping involves the following four steps in </a:t>
            </a:r>
            <a:r>
              <a:rPr lang="en-US" sz="3200" dirty="0" err="1"/>
              <a:t>WebGL</a:t>
            </a:r>
            <a:r>
              <a:rPr lang="en-US" sz="3200" dirty="0" smtClean="0"/>
              <a:t>: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1. </a:t>
            </a:r>
            <a:r>
              <a:rPr lang="en-US" sz="3200" dirty="0"/>
              <a:t>Prepare the image to be mapped on the geometric shape.</a:t>
            </a:r>
          </a:p>
          <a:p>
            <a:pPr marL="0" indent="0">
              <a:buNone/>
            </a:pPr>
            <a:r>
              <a:rPr lang="en-US" sz="3200" b="1" dirty="0"/>
              <a:t>2. </a:t>
            </a:r>
            <a:r>
              <a:rPr lang="en-US" sz="3200" dirty="0"/>
              <a:t>Specify the image mapping method for the geometric shape.</a:t>
            </a:r>
          </a:p>
          <a:p>
            <a:pPr marL="0" indent="0">
              <a:buNone/>
            </a:pPr>
            <a:r>
              <a:rPr lang="en-US" sz="3200" b="1" dirty="0"/>
              <a:t>3. </a:t>
            </a:r>
            <a:r>
              <a:rPr lang="en-US" sz="3200" dirty="0"/>
              <a:t>Load the texture image and configure it for use in </a:t>
            </a:r>
            <a:r>
              <a:rPr lang="en-US" sz="3200" dirty="0" err="1"/>
              <a:t>WebGL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sz="3200" dirty="0"/>
              <a:t>Extract the </a:t>
            </a:r>
            <a:r>
              <a:rPr lang="en-US" sz="3200" dirty="0" err="1"/>
              <a:t>texels</a:t>
            </a:r>
            <a:r>
              <a:rPr lang="en-US" sz="3200" dirty="0"/>
              <a:t> from the image in the fragment </a:t>
            </a:r>
            <a:r>
              <a:rPr lang="en-US" sz="3200" dirty="0" err="1"/>
              <a:t>shader</a:t>
            </a:r>
            <a:r>
              <a:rPr lang="en-US" sz="3200" dirty="0"/>
              <a:t>, and accordingly set </a:t>
            </a:r>
            <a:r>
              <a:rPr lang="en-US" sz="3200" dirty="0" smtClean="0"/>
              <a:t>the </a:t>
            </a:r>
            <a:r>
              <a:rPr lang="en-CA" sz="3200" dirty="0" smtClean="0"/>
              <a:t>corresponding </a:t>
            </a:r>
            <a:r>
              <a:rPr lang="en-CA" sz="3200" dirty="0"/>
              <a:t>fragment.</a:t>
            </a:r>
          </a:p>
        </p:txBody>
      </p:sp>
    </p:spTree>
    <p:extLst>
      <p:ext uri="{BB962C8B-B14F-4D97-AF65-F5344CB8AC3E}">
        <p14:creationId xmlns:p14="http://schemas.microsoft.com/office/powerpoint/2010/main" val="123657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355" y="1412488"/>
            <a:ext cx="8460000" cy="311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2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91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Texture Coordinates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20789" cy="4932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Texture </a:t>
            </a:r>
            <a:r>
              <a:rPr lang="en-US" sz="3200" dirty="0" smtClean="0"/>
              <a:t>coordinate system in </a:t>
            </a:r>
            <a:r>
              <a:rPr lang="en-US" sz="3200" dirty="0" err="1" smtClean="0"/>
              <a:t>WebGL</a:t>
            </a:r>
            <a:r>
              <a:rPr lang="en-US" sz="3200" dirty="0" smtClean="0"/>
              <a:t> is </a:t>
            </a:r>
            <a:r>
              <a:rPr lang="en-US" sz="3200" i="1" dirty="0" smtClean="0">
                <a:solidFill>
                  <a:srgbClr val="FF0000"/>
                </a:solidFill>
              </a:rPr>
              <a:t>two</a:t>
            </a:r>
            <a:r>
              <a:rPr lang="en-US" sz="3200" dirty="0" smtClean="0"/>
              <a:t> dimensional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To differentiate the texture coordinates from the widely used </a:t>
            </a:r>
            <a:r>
              <a:rPr lang="en-US" sz="3200" b="1" i="1" dirty="0">
                <a:solidFill>
                  <a:srgbClr val="FF0000"/>
                </a:solidFill>
              </a:rPr>
              <a:t>x</a:t>
            </a:r>
            <a:r>
              <a:rPr lang="en-US" sz="3200" dirty="0"/>
              <a:t> and </a:t>
            </a:r>
            <a:r>
              <a:rPr lang="en-US" sz="3200" b="1" i="1" dirty="0">
                <a:solidFill>
                  <a:srgbClr val="FF0000"/>
                </a:solidFill>
              </a:rPr>
              <a:t>y</a:t>
            </a:r>
            <a:r>
              <a:rPr lang="en-US" sz="3200" dirty="0"/>
              <a:t> axis, </a:t>
            </a:r>
            <a:r>
              <a:rPr lang="en-US" sz="3200" dirty="0" err="1" smtClean="0"/>
              <a:t>WebGL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lvl="1"/>
            <a:r>
              <a:rPr lang="en-US" dirty="0" smtClean="0"/>
              <a:t>128×128 </a:t>
            </a:r>
            <a:r>
              <a:rPr lang="en-US" dirty="0"/>
              <a:t>or 128×256, the right top corner coordinates will always </a:t>
            </a:r>
            <a:r>
              <a:rPr lang="en-US" dirty="0" smtClean="0"/>
              <a:t>be</a:t>
            </a:r>
            <a:r>
              <a:rPr lang="en-CA" dirty="0" smtClean="0"/>
              <a:t>(1.0</a:t>
            </a:r>
            <a:r>
              <a:rPr lang="en-CA" dirty="0"/>
              <a:t>, 1.0</a:t>
            </a:r>
            <a:r>
              <a:rPr lang="en-CA" dirty="0" smtClean="0"/>
              <a:t>)</a:t>
            </a:r>
            <a:endParaRPr lang="en-US" sz="28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CA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7251"/>
          <a:stretch/>
        </p:blipFill>
        <p:spPr>
          <a:xfrm>
            <a:off x="7604001" y="1546653"/>
            <a:ext cx="4382951" cy="30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5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1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Pasting Texture Images </a:t>
            </a:r>
            <a:r>
              <a:rPr lang="en-US" b="1" dirty="0" smtClean="0">
                <a:solidFill>
                  <a:srgbClr val="C00000"/>
                </a:solidFill>
              </a:rPr>
              <a:t>to Geometric </a:t>
            </a:r>
            <a:r>
              <a:rPr lang="en-US" b="1" dirty="0">
                <a:solidFill>
                  <a:srgbClr val="C00000"/>
                </a:solidFill>
              </a:rPr>
              <a:t>Shape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78484" cy="43513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 </a:t>
            </a:r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texture coordinates (0.0, 1.0) are mapped onto the vertex coordinates (–0.5, </a:t>
            </a:r>
            <a:r>
              <a:rPr lang="en-US" sz="3200" dirty="0" smtClean="0"/>
              <a:t>0.5,0.0</a:t>
            </a:r>
            <a:r>
              <a:rPr lang="en-US" sz="3200" dirty="0"/>
              <a:t>), and the texture coordinates (1.0, 1.0) are mapped onto the vertex coordinates (</a:t>
            </a:r>
            <a:r>
              <a:rPr lang="en-US" sz="3200" dirty="0" smtClean="0"/>
              <a:t>0.5,</a:t>
            </a:r>
            <a:r>
              <a:rPr lang="en-CA" sz="3200" dirty="0" smtClean="0"/>
              <a:t>0.5</a:t>
            </a:r>
            <a:r>
              <a:rPr lang="en-CA" sz="3200" dirty="0"/>
              <a:t>, 0.0).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/>
          <a:srcRect t="5778" r="14000"/>
          <a:stretch/>
        </p:blipFill>
        <p:spPr>
          <a:xfrm>
            <a:off x="7081060" y="1870364"/>
            <a:ext cx="5055524" cy="22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6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TextureQuad.JS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3" y="1828191"/>
            <a:ext cx="7765876" cy="43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66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TextureQuad.JS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042"/>
          <a:stretch/>
        </p:blipFill>
        <p:spPr>
          <a:xfrm>
            <a:off x="669992" y="2158723"/>
            <a:ext cx="7526926" cy="352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76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903"/>
          <a:stretch/>
        </p:blipFill>
        <p:spPr>
          <a:xfrm>
            <a:off x="562307" y="66502"/>
            <a:ext cx="7925176" cy="59933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7" y="6076314"/>
            <a:ext cx="7925176" cy="8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33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4" y="650854"/>
            <a:ext cx="8084476" cy="377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88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88" y="572947"/>
            <a:ext cx="7566751" cy="431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85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Steps For Texture Mapping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474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program is structured into five main parts:</a:t>
            </a:r>
          </a:p>
          <a:p>
            <a:pPr marL="0" indent="0">
              <a:buNone/>
            </a:pPr>
            <a:r>
              <a:rPr lang="en-US" b="1" dirty="0"/>
              <a:t>Part 1: </a:t>
            </a:r>
            <a:r>
              <a:rPr lang="en-US" dirty="0"/>
              <a:t>Receive the texture coordinates in the vertex </a:t>
            </a:r>
            <a:r>
              <a:rPr lang="en-US" dirty="0" err="1"/>
              <a:t>shader</a:t>
            </a:r>
            <a:r>
              <a:rPr lang="en-US" dirty="0"/>
              <a:t> and then pass them to </a:t>
            </a:r>
            <a:r>
              <a:rPr lang="en-US" dirty="0" smtClean="0"/>
              <a:t>the </a:t>
            </a:r>
            <a:r>
              <a:rPr lang="en-CA" dirty="0" smtClean="0"/>
              <a:t>fragment </a:t>
            </a:r>
            <a:r>
              <a:rPr lang="en-CA" dirty="0" err="1"/>
              <a:t>shader</a:t>
            </a:r>
            <a:r>
              <a:rPr lang="en-CA" dirty="0"/>
              <a:t>.</a:t>
            </a:r>
          </a:p>
          <a:p>
            <a:pPr marL="0" indent="0">
              <a:buNone/>
            </a:pPr>
            <a:r>
              <a:rPr lang="en-US" b="1" dirty="0"/>
              <a:t>Part 2: </a:t>
            </a:r>
            <a:r>
              <a:rPr lang="en-US" dirty="0"/>
              <a:t>Paste the texture image onto the geometric shape inside the fragment </a:t>
            </a:r>
            <a:r>
              <a:rPr lang="en-US" dirty="0" err="1"/>
              <a:t>shader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Part 3: </a:t>
            </a:r>
            <a:r>
              <a:rPr lang="en-US" dirty="0"/>
              <a:t>Set the texture coordinates ( </a:t>
            </a:r>
            <a:r>
              <a:rPr lang="en-US" i="1" dirty="0" err="1"/>
              <a:t>initVertexBuffers</a:t>
            </a:r>
            <a:r>
              <a:rPr lang="en-US" i="1" dirty="0"/>
              <a:t>() 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b="1" dirty="0"/>
              <a:t>Part 4: </a:t>
            </a:r>
            <a:r>
              <a:rPr lang="en-US" dirty="0"/>
              <a:t>Prepare the texture image for loading, and request the browser to read it</a:t>
            </a:r>
            <a:r>
              <a:rPr lang="en-US" dirty="0" smtClean="0"/>
              <a:t>.</a:t>
            </a:r>
            <a:r>
              <a:rPr lang="en-CA" dirty="0" smtClean="0"/>
              <a:t>( </a:t>
            </a:r>
            <a:r>
              <a:rPr lang="en-CA" i="1" dirty="0" err="1"/>
              <a:t>initTextures</a:t>
            </a:r>
            <a:r>
              <a:rPr lang="en-CA" i="1" dirty="0"/>
              <a:t>() </a:t>
            </a:r>
            <a:r>
              <a:rPr lang="en-CA" dirty="0"/>
              <a:t>).</a:t>
            </a:r>
          </a:p>
          <a:p>
            <a:pPr marL="0" indent="0">
              <a:buNone/>
            </a:pPr>
            <a:r>
              <a:rPr lang="en-US" b="1" dirty="0"/>
              <a:t>Part 5: </a:t>
            </a:r>
            <a:r>
              <a:rPr lang="en-US" dirty="0"/>
              <a:t>Configure the loaded texture so that it can be used in </a:t>
            </a:r>
            <a:r>
              <a:rPr lang="en-US" dirty="0" err="1"/>
              <a:t>WebGL</a:t>
            </a:r>
            <a:r>
              <a:rPr lang="en-US" dirty="0"/>
              <a:t> ( </a:t>
            </a:r>
            <a:r>
              <a:rPr lang="en-US" i="1" dirty="0" err="1"/>
              <a:t>loadTexture</a:t>
            </a:r>
            <a:r>
              <a:rPr lang="en-US" i="1" dirty="0"/>
              <a:t>() </a:t>
            </a:r>
            <a:r>
              <a:rPr lang="en-US" dirty="0"/>
              <a:t>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40886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Using Texture </a:t>
            </a:r>
            <a:r>
              <a:rPr lang="en-CA" b="1" dirty="0" smtClean="0">
                <a:solidFill>
                  <a:srgbClr val="C00000"/>
                </a:solidFill>
              </a:rPr>
              <a:t>Coordinates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6457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first vertex (–0.5, 0.5) is mapped to the texture coordinate (0.0, 1.0</a:t>
            </a:r>
            <a:r>
              <a:rPr lang="en-US" dirty="0" smtClean="0"/>
              <a:t>),</a:t>
            </a:r>
          </a:p>
          <a:p>
            <a:pPr marL="0" indent="0">
              <a:buNone/>
            </a:pPr>
            <a:r>
              <a:rPr lang="en-US" dirty="0" smtClean="0"/>
              <a:t>The second vertex (–0.5, –0.5) is mapped to the texture coordinate (0.0, 0.0), </a:t>
            </a:r>
          </a:p>
          <a:p>
            <a:pPr marL="0" indent="0">
              <a:buNone/>
            </a:pPr>
            <a:r>
              <a:rPr lang="en-US" dirty="0" smtClean="0"/>
              <a:t>The third vertex </a:t>
            </a:r>
            <a:r>
              <a:rPr lang="en-US" dirty="0"/>
              <a:t>(0.5, 0.5) is mapped to the texture coordinate (1.0, 10), and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fourth vertex (0.5</a:t>
            </a:r>
            <a:r>
              <a:rPr lang="en-US" dirty="0" smtClean="0"/>
              <a:t>,–</a:t>
            </a:r>
            <a:r>
              <a:rPr lang="en-US" dirty="0"/>
              <a:t>0.5) is mapped to the texture coordinate (1.0, 0.0).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0241"/>
          <a:stretch/>
        </p:blipFill>
        <p:spPr>
          <a:xfrm>
            <a:off x="7187522" y="1986668"/>
            <a:ext cx="5004478" cy="17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0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Setting Up and Loading Images (</a:t>
            </a:r>
            <a:r>
              <a:rPr lang="en-US" b="1" dirty="0" err="1">
                <a:solidFill>
                  <a:srgbClr val="C00000"/>
                </a:solidFill>
              </a:rPr>
              <a:t>initTextures</a:t>
            </a:r>
            <a:r>
              <a:rPr lang="en-US" b="1" dirty="0">
                <a:solidFill>
                  <a:srgbClr val="C00000"/>
                </a:solidFill>
              </a:rPr>
              <a:t>())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21036" cy="4351338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CA" dirty="0"/>
              <a:t>C</a:t>
            </a:r>
            <a:r>
              <a:rPr lang="en-CA" dirty="0" smtClean="0"/>
              <a:t>reates </a:t>
            </a:r>
            <a:r>
              <a:rPr lang="en-US" dirty="0" smtClean="0"/>
              <a:t>a </a:t>
            </a:r>
            <a:r>
              <a:rPr lang="en-US" dirty="0"/>
              <a:t>texture object </a:t>
            </a:r>
            <a:r>
              <a:rPr lang="en-US" i="1" dirty="0">
                <a:solidFill>
                  <a:srgbClr val="FF0000"/>
                </a:solidFill>
              </a:rPr>
              <a:t>( </a:t>
            </a:r>
            <a:r>
              <a:rPr lang="en-US" i="1" dirty="0" err="1">
                <a:solidFill>
                  <a:srgbClr val="FF0000"/>
                </a:solidFill>
              </a:rPr>
              <a:t>gl.createTexture</a:t>
            </a:r>
            <a:r>
              <a:rPr lang="en-US" i="1" dirty="0">
                <a:solidFill>
                  <a:srgbClr val="FF0000"/>
                </a:solidFill>
              </a:rPr>
              <a:t>() ) </a:t>
            </a:r>
            <a:r>
              <a:rPr lang="en-US" dirty="0"/>
              <a:t>for managing the texture image in the </a:t>
            </a:r>
            <a:r>
              <a:rPr lang="en-US" dirty="0" err="1" smtClean="0"/>
              <a:t>WebGL</a:t>
            </a:r>
            <a:r>
              <a:rPr lang="en-US" dirty="0"/>
              <a:t> </a:t>
            </a:r>
            <a:r>
              <a:rPr lang="en-US" dirty="0" smtClean="0"/>
              <a:t>system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Gets the </a:t>
            </a:r>
            <a:r>
              <a:rPr lang="en-US" dirty="0"/>
              <a:t>storage location of a uniform variable </a:t>
            </a:r>
            <a:r>
              <a:rPr lang="en-US" i="1" dirty="0" smtClean="0">
                <a:solidFill>
                  <a:srgbClr val="FF0000"/>
                </a:solidFill>
              </a:rPr>
              <a:t>(</a:t>
            </a:r>
            <a:r>
              <a:rPr lang="en-US" i="1" dirty="0" err="1" smtClean="0">
                <a:solidFill>
                  <a:srgbClr val="FF0000"/>
                </a:solidFill>
              </a:rPr>
              <a:t>gl.getUniformLocation</a:t>
            </a:r>
            <a:r>
              <a:rPr lang="en-US" i="1" dirty="0" smtClean="0">
                <a:solidFill>
                  <a:srgbClr val="FF0000"/>
                </a:solidFill>
              </a:rPr>
              <a:t>()) </a:t>
            </a:r>
            <a:r>
              <a:rPr lang="en-US" dirty="0"/>
              <a:t>to pass the texture image to the fragment </a:t>
            </a:r>
            <a:r>
              <a:rPr lang="en-US" dirty="0" err="1"/>
              <a:t>shader</a:t>
            </a:r>
            <a:r>
              <a:rPr lang="en-US" dirty="0"/>
              <a:t> ()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050" y="2032977"/>
            <a:ext cx="5045281" cy="11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5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</a:rPr>
              <a:t>createTexture</a:t>
            </a:r>
            <a:r>
              <a:rPr lang="en-US" b="1" dirty="0" smtClean="0">
                <a:solidFill>
                  <a:srgbClr val="C00000"/>
                </a:solidFill>
              </a:rPr>
              <a:t>() Method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8034"/>
          <a:stretch/>
        </p:blipFill>
        <p:spPr>
          <a:xfrm>
            <a:off x="178563" y="1765502"/>
            <a:ext cx="5108332" cy="28006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99" y="3165819"/>
            <a:ext cx="6053401" cy="32192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599" y="505664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i="1" dirty="0">
                <a:latin typeface="CourierStd"/>
              </a:rPr>
              <a:t>gl.TEXTURE0</a:t>
            </a:r>
            <a:r>
              <a:rPr lang="en-US" sz="1600" dirty="0">
                <a:latin typeface="CourierStd"/>
              </a:rPr>
              <a:t> </a:t>
            </a:r>
            <a:r>
              <a:rPr lang="en-US" dirty="0">
                <a:latin typeface="StoneSerifStd-Medium"/>
              </a:rPr>
              <a:t>to </a:t>
            </a:r>
            <a:r>
              <a:rPr lang="en-US" sz="1600" b="1" i="1" dirty="0">
                <a:latin typeface="CourierStd"/>
              </a:rPr>
              <a:t>gl.TEXTURE7</a:t>
            </a:r>
            <a:r>
              <a:rPr lang="en-US" sz="1600" dirty="0">
                <a:latin typeface="CourierStd"/>
              </a:rPr>
              <a:t> </a:t>
            </a:r>
            <a:r>
              <a:rPr lang="en-US" dirty="0">
                <a:latin typeface="StoneSerifStd-Medium"/>
              </a:rPr>
              <a:t>are texture units for managing a texture image, and each </a:t>
            </a:r>
            <a:r>
              <a:rPr lang="en-US" dirty="0" smtClean="0">
                <a:latin typeface="StoneSerifStd-Medium"/>
              </a:rPr>
              <a:t>has an </a:t>
            </a:r>
            <a:r>
              <a:rPr lang="en-US" dirty="0">
                <a:latin typeface="StoneSerifStd-Medium"/>
              </a:rPr>
              <a:t>associated </a:t>
            </a:r>
            <a:r>
              <a:rPr lang="en-US" sz="1600" b="1" i="1" dirty="0">
                <a:latin typeface="CourierStd"/>
              </a:rPr>
              <a:t>gl.TEXTURE_2D</a:t>
            </a:r>
            <a:r>
              <a:rPr lang="en-US" sz="1600" dirty="0">
                <a:latin typeface="CourierStd"/>
              </a:rPr>
              <a:t> </a:t>
            </a:r>
            <a:r>
              <a:rPr lang="en-US" dirty="0">
                <a:latin typeface="StoneSerifStd-Medium"/>
              </a:rPr>
              <a:t>, which is the texture target for specifying the type of texture.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04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Asynchronous Loading Texture Images</a:t>
            </a:r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362" r="3982"/>
          <a:stretch/>
        </p:blipFill>
        <p:spPr>
          <a:xfrm>
            <a:off x="139931" y="1595600"/>
            <a:ext cx="11912138" cy="52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0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Making Texture Ready to Use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097"/>
          <a:stretch/>
        </p:blipFill>
        <p:spPr>
          <a:xfrm>
            <a:off x="349193" y="1521229"/>
            <a:ext cx="9692582" cy="486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37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Flip an Image Y-</a:t>
            </a:r>
            <a:r>
              <a:rPr lang="en-US" b="1" dirty="0" err="1" smtClean="0">
                <a:solidFill>
                  <a:srgbClr val="C00000"/>
                </a:solidFill>
              </a:rPr>
              <a:t>Axix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433"/>
          <a:stretch/>
        </p:blipFill>
        <p:spPr>
          <a:xfrm>
            <a:off x="264622" y="1554480"/>
            <a:ext cx="10515600" cy="5794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535"/>
          <a:stretch/>
        </p:blipFill>
        <p:spPr>
          <a:xfrm>
            <a:off x="1280625" y="2493817"/>
            <a:ext cx="9376291" cy="36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8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Flip an Image Y-</a:t>
            </a:r>
            <a:r>
              <a:rPr lang="en-US" b="1" dirty="0" err="1">
                <a:solidFill>
                  <a:srgbClr val="C00000"/>
                </a:solidFill>
              </a:rPr>
              <a:t>Axix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8" y="1086351"/>
            <a:ext cx="10834722" cy="577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78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760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Active Texture Unit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34" y="1275855"/>
            <a:ext cx="10872226" cy="35082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943" y="4867725"/>
            <a:ext cx="6610951" cy="144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09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513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Active Texture Unit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917"/>
            <a:ext cx="11927760" cy="58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Binding a Texture Object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560"/>
          <a:stretch/>
        </p:blipFill>
        <p:spPr>
          <a:xfrm>
            <a:off x="563881" y="1566632"/>
            <a:ext cx="10515600" cy="17227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25" y="3289368"/>
            <a:ext cx="7606576" cy="1156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651" y="4445501"/>
            <a:ext cx="8582698" cy="234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4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Binding a Texture Object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36" y="1573107"/>
            <a:ext cx="10701764" cy="47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8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Setting the Texture Parameters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693" y="1825625"/>
            <a:ext cx="89706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3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Setting the Texture Parameters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95" y="1258426"/>
            <a:ext cx="10036284" cy="52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7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513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Setting the Texture Parameters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93" y="1010920"/>
            <a:ext cx="10821239" cy="33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9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Setting the Texture Parameters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59" y="1325563"/>
            <a:ext cx="11083706" cy="27158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8370" r="2801"/>
          <a:stretch/>
        </p:blipFill>
        <p:spPr>
          <a:xfrm>
            <a:off x="907620" y="3962399"/>
            <a:ext cx="9986984" cy="264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Assigning Texture Image to a Texture Object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2" y="1072342"/>
            <a:ext cx="10315276" cy="56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5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513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Assigning Texture Image to a Texture Object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679" y="2047300"/>
            <a:ext cx="7854456" cy="384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9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702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Assigning Texture Image to a Texture Object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702" y="2132854"/>
            <a:ext cx="10515600" cy="25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3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764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Assigning Texture Image to a Texture Object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56" y="1490785"/>
            <a:ext cx="10553626" cy="45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701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Retrieving the Texel Color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938" y="1195813"/>
            <a:ext cx="10515600" cy="4081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7" y="5670386"/>
            <a:ext cx="10195201" cy="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8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Return Values of texture2D()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016"/>
          <a:stretch/>
        </p:blipFill>
        <p:spPr>
          <a:xfrm>
            <a:off x="655320" y="2219498"/>
            <a:ext cx="10515600" cy="35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6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138" y="0"/>
            <a:ext cx="10515600" cy="1325563"/>
          </a:xfrm>
        </p:spPr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</a:rPr>
              <a:t>WebGL</a:t>
            </a:r>
            <a:r>
              <a:rPr lang="en-US" b="1" dirty="0" smtClean="0">
                <a:solidFill>
                  <a:srgbClr val="C00000"/>
                </a:solidFill>
              </a:rPr>
              <a:t> System After Retrieving Texture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56" y="1904788"/>
            <a:ext cx="10434151" cy="46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7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457200" y="215371"/>
            <a:ext cx="8229600" cy="1097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C00000"/>
                </a:solidFill>
              </a:rPr>
              <a:t>Basic</a:t>
            </a:r>
            <a:r>
              <a:rPr lang="en-US" altLang="en-US" dirty="0" smtClean="0">
                <a:ea typeface="ＭＳ Ｐゴシック" panose="020B0600070205080204" pitchFamily="-84" charset="-128"/>
              </a:rPr>
              <a:t> </a:t>
            </a:r>
            <a:r>
              <a:rPr lang="en-US" altLang="en-US" b="1" dirty="0" smtClean="0">
                <a:solidFill>
                  <a:srgbClr val="C00000"/>
                </a:solidFill>
              </a:rPr>
              <a:t>Strategy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73720" y="1616388"/>
            <a:ext cx="8229600" cy="910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0550" indent="-590550">
              <a:buFontTx/>
              <a:buNone/>
            </a:pPr>
            <a:r>
              <a:rPr lang="en-US" altLang="en-US" sz="3000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Three steps to applying a texture</a:t>
            </a:r>
          </a:p>
          <a:p>
            <a:pPr marL="429768" indent="-428400">
              <a:buFont typeface="+mj-lt"/>
              <a:buAutoNum type="arabicPeriod"/>
            </a:pPr>
            <a:r>
              <a:rPr lang="en-US" altLang="en-US" sz="3000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specify the texture</a:t>
            </a:r>
            <a:endParaRPr lang="en-US" altLang="en-US" sz="3000" dirty="0">
              <a:latin typeface="Arial" panose="020B0604020202020204" pitchFamily="34" charset="0"/>
              <a:ea typeface="ＭＳ Ｐゴシック" panose="020B0600070205080204" pitchFamily="-84" charset="-128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57200" y="2586368"/>
            <a:ext cx="8229600" cy="19097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4750" lvl="1" indent="-283464"/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read or generate image</a:t>
            </a:r>
          </a:p>
          <a:p>
            <a:pPr marL="744750" lvl="1" indent="-283464"/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assign to texture</a:t>
            </a:r>
          </a:p>
          <a:p>
            <a:pPr marL="744750" lvl="1" indent="-283464"/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enable texturing</a:t>
            </a:r>
          </a:p>
          <a:p>
            <a:pPr marL="429768" indent="-429768">
              <a:buFont typeface="+mj-lt"/>
              <a:buAutoNum type="arabicPeriod" startAt="2"/>
            </a:pP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assign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texture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 coordinates to vertices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-84" charset="-128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457200" y="4437090"/>
            <a:ext cx="8229600" cy="9987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0664" lvl="1" indent="-283464">
              <a:buFont typeface="Arial" panose="020B0604020202020204" pitchFamily="34" charset="0"/>
              <a:buChar char="–"/>
            </a:pP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Proper mapping function is left to application</a:t>
            </a:r>
          </a:p>
          <a:p>
            <a:pPr marL="429768" indent="-429768">
              <a:buFont typeface="+mj-lt"/>
              <a:buAutoNum type="arabicPeriod" startAt="3"/>
            </a:pP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specify texture parameters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-84" charset="-128"/>
              <a:cs typeface="Arial" panose="020B0604020202020204" pitchFamily="34" charset="0"/>
            </a:endParaRPr>
          </a:p>
        </p:txBody>
      </p:sp>
      <p:sp>
        <p:nvSpPr>
          <p:cNvPr id="8" name="Content Placeholder 1"/>
          <p:cNvSpPr txBox="1">
            <a:spLocks/>
          </p:cNvSpPr>
          <p:nvPr/>
        </p:nvSpPr>
        <p:spPr>
          <a:xfrm>
            <a:off x="473720" y="5367576"/>
            <a:ext cx="8229600" cy="4190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464"/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-84" charset="-128"/>
                <a:cs typeface="Arial" panose="020B0604020202020204" pitchFamily="34" charset="0"/>
              </a:rPr>
              <a:t>wrapping, filtering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-8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300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47517"/>
            <a:ext cx="8229600" cy="747882"/>
          </a:xfrm>
        </p:spPr>
        <p:txBody>
          <a:bodyPr tIns="91425" anchor="b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Texture Mapping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The figure shows, A black parallelogram with a small white dot exists on a x, y, z, plane. A photographic image of the sky and treetops with the same small white dot exists on a t s plane. These are combined into a third image which combines the photograph with the parallelogram and exhibits the small white do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147" y="1756970"/>
            <a:ext cx="6972681" cy="43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2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Texture Example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1" y="1600200"/>
            <a:ext cx="3708400" cy="553968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2400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The texture (below) is a</a:t>
            </a:r>
            <a:endParaRPr lang="en-US" altLang="en-US" sz="2400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6" name="Object 5" descr="256 times 256.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868233"/>
              </p:ext>
            </p:extLst>
          </p:nvPr>
        </p:nvGraphicFramePr>
        <p:xfrm>
          <a:off x="3862359" y="1718861"/>
          <a:ext cx="1221347" cy="316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3" imgW="685800" imgH="177480" progId="Equation.DSMT4">
                  <p:embed/>
                </p:oleObj>
              </mc:Choice>
              <mc:Fallback>
                <p:oleObj name="Equation" r:id="rId3" imgW="685800" imgH="177480" progId="Equation.DSMT4">
                  <p:embed/>
                  <p:pic>
                    <p:nvPicPr>
                      <p:cNvPr id="4" name="Object 3" descr="256 times 256.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2359" y="1718861"/>
                        <a:ext cx="1221347" cy="316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5"/>
          <p:cNvSpPr txBox="1">
            <a:spLocks/>
          </p:cNvSpPr>
          <p:nvPr/>
        </p:nvSpPr>
        <p:spPr>
          <a:xfrm>
            <a:off x="457201" y="1962936"/>
            <a:ext cx="4626506" cy="1295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1938" indent="0"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image that has been mapped to a rectangular polygon which is viewed in perspective</a:t>
            </a:r>
            <a:endParaRPr lang="en-US" sz="2400" dirty="0"/>
          </a:p>
        </p:txBody>
      </p:sp>
      <p:pic>
        <p:nvPicPr>
          <p:cNvPr id="8" name="Picture 7" descr="A screen space view shows the Open G L logo on a rectangular plane in a three dimensional space. A texture space view shows the logo on a two dimensional plane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819" y="1433946"/>
            <a:ext cx="2432050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3127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10708"/>
            <a:ext cx="10781607" cy="747882"/>
          </a:xfrm>
        </p:spPr>
        <p:txBody>
          <a:bodyPr wrap="square"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Texture Mapping and the Web</a:t>
            </a:r>
            <a:r>
              <a:rPr lang="en-US" altLang="en-US" sz="1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G</a:t>
            </a:r>
            <a:r>
              <a:rPr lang="en-US" altLang="en-US" sz="1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L Pipeline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457200" y="1600200"/>
            <a:ext cx="11734800" cy="2038989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Images and geometry flow through separate pipelines that join during fragment processing</a:t>
            </a:r>
          </a:p>
          <a:p>
            <a:pPr marL="255651" indent="-255651" eaLnBrk="0" fontAlgn="base" hangingPunct="0">
              <a:spcAft>
                <a:spcPct val="0"/>
              </a:spcAft>
            </a:pPr>
            <a:endParaRPr lang="en-US" altLang="en-US" sz="3200" dirty="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“complex” textures do not affect geometric complexity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7" name="Picture 6" descr="A diagram depicts vertices entering a box labeled geometry pipeline and an image entering a box labeled texel pipeline. each of these boxes enters a box labeled fragment processor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619" y="4420615"/>
            <a:ext cx="6168101" cy="1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65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Specifying a Texture Image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" y="1600200"/>
            <a:ext cx="11734800" cy="4767942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Define a texture image from an array of </a:t>
            </a:r>
            <a:r>
              <a:rPr lang="en-US" altLang="en-US" sz="3200" b="1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texels</a:t>
            </a: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(texture elements) in C P U memory</a:t>
            </a:r>
          </a:p>
          <a:p>
            <a:pPr marL="255651" indent="-255651" eaLnBrk="0" fontAlgn="base" hangingPunct="0">
              <a:spcAft>
                <a:spcPct val="0"/>
              </a:spcAft>
            </a:pPr>
            <a:endParaRPr lang="en-US" altLang="en-US" sz="3200" dirty="0" smtClean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Use an image in a standard format such as J P E G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Scanned image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Generate by application code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endParaRPr lang="en-US" altLang="en-US" dirty="0" smtClean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Web G L supports only 2 dimensional texture maps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no need to enable as in desktop Open G L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desktop Open G L supports 1-4 dimensional texture maps</a:t>
            </a:r>
            <a:endParaRPr lang="en-US" altLang="en-US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64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Define Image as a Texture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15276" cy="50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60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Mapping a Texture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977673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  <a:buClr>
                <a:schemeClr val="tx2"/>
              </a:buClr>
            </a:pPr>
            <a:r>
              <a:rPr lang="en-US" alt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Based on parametric texture coordinates</a:t>
            </a:r>
          </a:p>
          <a:p>
            <a:pPr marL="255651" indent="-255651" eaLnBrk="0" fontAlgn="base" hangingPunct="0">
              <a:spcAft>
                <a:spcPct val="0"/>
              </a:spcAft>
              <a:buClr>
                <a:schemeClr val="tx2"/>
              </a:buClr>
            </a:pPr>
            <a:r>
              <a:rPr lang="en-US" alt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Specify as a 2D vertex attribute</a:t>
            </a: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6" name="Picture 5" descr="Two images. 3 shapes, a rectangle and two smaller squares make up a larger square which exists on a t, s plane. On the y axis, the height of the square is 0 comma 1. On the x axis the length of the square is 1 comma 0. This graph is labeled texture space. A dotted lines outlines a triangle labeled a, b, b. This triangle is transposed to the second image labeled object space. Each point on the triangle has a corresponding value. A, left parenthesis s comma t right parenthesis = left parenthesis 0 point 2 comma 0 point 8 right parenthesis. B, left parenthesis 0 point 4 comma 0 point 2 right parenthesis. C, left parenthesis 0 point 8 comma 0 point 4 right parenthesis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35" y="3062623"/>
            <a:ext cx="7165730" cy="29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213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84781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Interpolation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734800" cy="977673"/>
          </a:xfrm>
        </p:spPr>
        <p:txBody>
          <a:bodyPr wrap="square" lIns="91425" tIns="91425" rIns="91425" bIns="91425">
            <a:spAutoFit/>
          </a:bodyPr>
          <a:lstStyle/>
          <a:p>
            <a:pPr marL="0" lvl="0" indent="0" eaLnBrk="0" fontAlgn="base" hangingPunct="0">
              <a:spcAft>
                <a:spcPct val="0"/>
              </a:spcAft>
              <a:buNone/>
            </a:pP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Web</a:t>
            </a:r>
            <a:r>
              <a:rPr lang="en-US" altLang="en-US" sz="1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G</a:t>
            </a:r>
            <a:r>
              <a:rPr lang="en-US" altLang="en-US" sz="1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L </a:t>
            </a:r>
            <a:r>
              <a:rPr lang="en-US" altLang="en-US" sz="2400" dirty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uses interpolation to find proper texels from specified texture coordinates</a:t>
            </a:r>
          </a:p>
          <a:p>
            <a:pPr marL="0" lvl="0" indent="0" eaLnBrk="0" fontAlgn="base" hangingPunct="0"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Can be distortions</a:t>
            </a:r>
          </a:p>
        </p:txBody>
      </p:sp>
      <p:pic>
        <p:nvPicPr>
          <p:cNvPr id="6" name="Picture 5" descr="3 strategies are shown for mapping textures to polygons. In panel A, a triangle is filled with a checkerboard pattern in which the small square edges are arranged horizontally and vertically. In b, the same triangle is filled with a checkerboard pattern with square edges aligned diagonally along the edges of the triangle. In c, a trapezoid is filled with the same pattern in 2 different arrangements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292" y="2944488"/>
            <a:ext cx="7578833" cy="313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42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Using Texture Objects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" y="1600200"/>
            <a:ext cx="8229600" cy="4184705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specify textures in texture objects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set texture filter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set texture function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set texture wrap mode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set optional perspective correction hint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bind texture object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enable texturing</a:t>
            </a:r>
          </a:p>
          <a:p>
            <a:pPr marL="432000" indent="-432000" eaLnBrk="0" fontAlgn="base" hangingPunct="0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supply texture coordinates for vertex</a:t>
            </a:r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457200" y="4902266"/>
            <a:ext cx="8229600" cy="567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altLang="en-US" sz="2000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02974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84781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Texture Parameters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" y="1600199"/>
            <a:ext cx="11734800" cy="2989506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Web G L has a variety of parameters that determine how texture is applied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Wrapping parameters determine what happens if s and t are outside the (0,1) range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Filter modes allow us to use area averaging instead of point samples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Mipmapping</a:t>
            </a: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allows us to use textures at multiple resolutions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Environment parameters determine how texture mapping interacts with shading</a:t>
            </a:r>
            <a:endParaRPr lang="en-US" altLang="en-US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45847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Wrapping Mode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199" y="1600200"/>
            <a:ext cx="11621193" cy="977673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C00000"/>
                </a:solidFill>
                <a:latin typeface="Arial (Body)"/>
                <a:ea typeface="ＭＳ Ｐゴシック" panose="020B0600070205080204" pitchFamily="34" charset="-128"/>
              </a:rPr>
              <a:t>Clamping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: if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s,t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&gt; 1 use 1, if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s,t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&lt;0 use 0</a:t>
            </a:r>
          </a:p>
          <a:p>
            <a:pPr marL="0" indent="0" eaLnBrk="0" fontAlgn="base" hangingPunct="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C00000"/>
                </a:solidFill>
                <a:latin typeface="Arial (Body)"/>
                <a:ea typeface="ＭＳ Ｐゴシック" panose="020B0600070205080204" pitchFamily="34" charset="-128"/>
              </a:rPr>
              <a:t>Wrapping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: use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s,t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modulo 1</a:t>
            </a:r>
          </a:p>
        </p:txBody>
      </p:sp>
      <p:pic>
        <p:nvPicPr>
          <p:cNvPr id="6" name="Picture 5" descr="4 lines of computer code and a set of 3 images. The lines of computer code are as follows. Line 1. g l period t e x parameter i left parenthesis g l period TEXTURE underscore 2 D comma. line 2, indented once. g l period TEXTURE underscore WRAP underscore S comma g l period CLAMP right parenthesis. line 3. g l period t e x parameter i left parenthesis g l period TEXTURE underscore 2 D comma. Line 4, indented once. g l period TEXTURE underscore WRAP underscore T comma gl period REPEAT right parenthesis. After the code, the first shows a square with a checkered pattern on a t s plane. It is labeled texture. The second image is a square with a smaller checkered pattern. It is labeled g l period REPEAT wrapping. The third image is of a square with four smaller squares within it, each of a different pattern including vertical stripes, horizontal stripes, small checkered, and complete fill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806" y="2878153"/>
            <a:ext cx="5078389" cy="33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7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90069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Magnification and Minification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199" y="1600200"/>
            <a:ext cx="11579629" cy="1310072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More than one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texel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can cover a pixel (</a:t>
            </a:r>
            <a:r>
              <a:rPr lang="en-US" altLang="en-US" sz="2400" b="1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minification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) or more than one pixel can cover a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texel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 (</a:t>
            </a:r>
            <a:r>
              <a:rPr lang="en-US" altLang="en-US" sz="2400" b="1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magnification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)</a:t>
            </a:r>
          </a:p>
          <a:p>
            <a:pPr marL="0" indent="0" eaLnBrk="0" fontAlgn="base" hangingPunct="0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Can use point sampling (nearest </a:t>
            </a:r>
            <a:r>
              <a:rPr lang="en-US" altLang="en-US" sz="2400" dirty="0" err="1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texel</a:t>
            </a:r>
            <a:r>
              <a:rPr lang="en-US" altLang="en-US" sz="24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) or linear filtering</a:t>
            </a:r>
            <a:endParaRPr lang="en-US" altLang="en-US" sz="2400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  <p:graphicFrame>
        <p:nvGraphicFramePr>
          <p:cNvPr id="6" name="Object 5" descr="2 by 2 filter.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678331"/>
              </p:ext>
            </p:extLst>
          </p:nvPr>
        </p:nvGraphicFramePr>
        <p:xfrm>
          <a:off x="572746" y="3041054"/>
          <a:ext cx="1533658" cy="395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787320" imgH="203040" progId="Equation.DSMT4">
                  <p:embed/>
                </p:oleObj>
              </mc:Choice>
              <mc:Fallback>
                <p:oleObj name="Equation" r:id="rId3" imgW="787320" imgH="203040" progId="Equation.DSMT4">
                  <p:embed/>
                  <p:pic>
                    <p:nvPicPr>
                      <p:cNvPr id="5" name="Object 4" descr="2 by 2 filter.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746" y="3041054"/>
                        <a:ext cx="1533658" cy="395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5"/>
          <p:cNvSpPr txBox="1">
            <a:spLocks/>
          </p:cNvSpPr>
          <p:nvPr/>
        </p:nvSpPr>
        <p:spPr>
          <a:xfrm>
            <a:off x="2109534" y="3015047"/>
            <a:ext cx="6577266" cy="529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to obtain texture values</a:t>
            </a:r>
            <a:endParaRPr lang="en-US" altLang="en-US" sz="2400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  <p:pic>
        <p:nvPicPr>
          <p:cNvPr id="8" name="Picture 7" descr="Two images. The first image depicts magnification. A 2 by 2 grid, labeled texture, is shown as part of a larger grid, labeled polygon. The second image, labeled minification, shows a 2 by 2 grid, labeled polygon, having been extracted from a larger grid, labeled texture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65" y="3674829"/>
            <a:ext cx="6806071" cy="24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416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84781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Filter Modes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53968"/>
          </a:xfrm>
        </p:spPr>
        <p:txBody>
          <a:bodyPr wrap="square" lIns="91425" tIns="91425" rIns="91425" bIns="91425">
            <a:spAutoFit/>
          </a:bodyPr>
          <a:lstStyle/>
          <a:p>
            <a:pPr marL="0" lvl="0" indent="0" eaLnBrk="0" fontAlgn="base" hangingPunct="0">
              <a:spcAft>
                <a:spcPct val="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 (Body)"/>
                <a:ea typeface="ＭＳ Ｐゴシック" pitchFamily="-84" charset="-128"/>
                <a:cs typeface="ＭＳ Ｐゴシック" pitchFamily="-84" charset="-128"/>
              </a:rPr>
              <a:t>Modes determined </a:t>
            </a:r>
            <a:r>
              <a:rPr lang="en-US" sz="2400" dirty="0" smtClean="0">
                <a:solidFill>
                  <a:srgbClr val="000000"/>
                </a:solidFill>
                <a:latin typeface="Arial (Body)"/>
                <a:ea typeface="ＭＳ Ｐゴシック" pitchFamily="-84" charset="-128"/>
                <a:cs typeface="ＭＳ Ｐゴシック" pitchFamily="-84" charset="-128"/>
              </a:rPr>
              <a:t>by</a:t>
            </a:r>
            <a:endParaRPr lang="en-US" sz="2400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 (Body)"/>
              <a:ea typeface="ＭＳ Ｐゴシック" charset="-128"/>
            </a:endParaRPr>
          </a:p>
        </p:txBody>
      </p:sp>
      <p:pic>
        <p:nvPicPr>
          <p:cNvPr id="6" name="Picture 5" descr="5 lines of computer code. The lines are as follows. Lines 1, once indented. g l period t e x parameter i left parenthesis target comma type comma mode right parenthesis. Line 2. g l period t e x parameter i left parenthesis g l period TEXTURE underscore 2 D comma g l period TEXURE underscore MAG underscore FILTER comma. Line 3, twice indented. G L underscore NEAREST right parenthesis semicolon. Line 4. g l period t e x parameter i left parenthesis g l period TEXTURE underscore 2 D comma g l period TEXURE underscore MIN underscore FILTER comma. Line 5, twice indented. g l period LINEAR right parenthesis semicolon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10" y="2553904"/>
            <a:ext cx="8168346" cy="235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15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84781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Applying Textures</a:t>
            </a:r>
            <a:endParaRPr lang="en-US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" y="1600199"/>
            <a:ext cx="11405062" cy="1199272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Textures are applied during fragments shading by a </a:t>
            </a:r>
            <a:r>
              <a:rPr lang="en-US" altLang="en-US" sz="3200" b="1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sampler</a:t>
            </a:r>
          </a:p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latin typeface="Arial (Body)"/>
                <a:ea typeface="ＭＳ Ｐゴシック" panose="020B0600070205080204" pitchFamily="34" charset="-128"/>
              </a:rPr>
              <a:t>Samplers return a texture color from a texture object</a:t>
            </a:r>
            <a:endParaRPr lang="en-US" altLang="en-US" sz="3200" dirty="0">
              <a:solidFill>
                <a:srgbClr val="000000"/>
              </a:solidFill>
              <a:latin typeface="Arial (Body)"/>
              <a:ea typeface="ＭＳ Ｐゴシック" panose="020B0600070205080204" pitchFamily="34" charset="-128"/>
            </a:endParaRPr>
          </a:p>
        </p:txBody>
      </p:sp>
      <p:pic>
        <p:nvPicPr>
          <p:cNvPr id="6" name="Picture 5" descr="6 lines of computer code. The lines are as follows. Line 1. varying v e c 4 color semicolon forward slash forward slash color from rasterizer. Line 2 varying v e c 2 t e x c o o r d semicolon forward slash forward slash texture coordinate from rasterizer. Line 3. uniform sampler 2 D texture semicolon forward slash forward slash texture object from application. Line 4. void main left parenthesis right parenthesis left brace. Line 5, once indented. g l underscore Frag Color = color asterisk texture 2 D left parenthesis texture, t e x C o o r d right parenthesis semicolon. Line 6. right brace.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560" y="3469307"/>
            <a:ext cx="7475191" cy="23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729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84781"/>
            <a:ext cx="8229600" cy="747882"/>
          </a:xfrm>
        </p:spPr>
        <p:txBody>
          <a:bodyPr tIns="91425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Vertex Shader</a:t>
            </a:r>
            <a:endParaRPr lang="en-US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" y="1600199"/>
            <a:ext cx="11734800" cy="2324709"/>
          </a:xfrm>
          <a:prstGeom prst="rect">
            <a:avLst/>
          </a:prstGeom>
        </p:spPr>
        <p:txBody>
          <a:bodyPr vert="horz" wrap="square" lIns="91425" tIns="91425" rIns="91425" bIns="91425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3200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Usually vertex </a:t>
            </a:r>
            <a:r>
              <a:rPr lang="en-US" altLang="en-US" sz="3200" dirty="0" err="1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shader</a:t>
            </a:r>
            <a:r>
              <a:rPr lang="en-US" altLang="en-US" sz="3200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 will output texture coordinates to be rasterized</a:t>
            </a:r>
          </a:p>
          <a:p>
            <a:pPr marL="255651" indent="-255651" eaLnBrk="0" fontAlgn="base" hangingPunct="0">
              <a:spcAft>
                <a:spcPct val="0"/>
              </a:spcAft>
            </a:pPr>
            <a:r>
              <a:rPr lang="en-US" altLang="en-US" sz="2400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Must do all other standard tasks too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Compute vertex position</a:t>
            </a:r>
          </a:p>
          <a:p>
            <a:pPr marL="741553" lvl="1" indent="-284353" eaLnBrk="0" fontAlgn="base" hangingPunct="0"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en-US" dirty="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Compute vertex color if needed</a:t>
            </a:r>
          </a:p>
        </p:txBody>
      </p:sp>
      <p:pic>
        <p:nvPicPr>
          <p:cNvPr id="6" name="Picture 5" descr="5 lines of computer code. The lines are as follows. Line 1. attribute v e c 4 v position semicolon forward slash forward slash vertex position in object coordinates. Line 2. attribute v e c 4 v color semicolon forward slash forward slash vertex color from application. Line 3. attribute v e c 2 v T e x C o o r d semicolon forward slash forward slash texture coordinate from application. Line 4. varying v e c 4 color semicolon forward slash forward slash output color to be interpolated. Line 5. Varying v e c 2 t e x c o o r d semicolon forward slash forward slash output text coordinate to be interpolat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55" y="4192444"/>
            <a:ext cx="8059262" cy="254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4722</TotalTime>
  <Words>1207</Words>
  <Application>Microsoft Office PowerPoint</Application>
  <PresentationFormat>Widescreen</PresentationFormat>
  <Paragraphs>151</Paragraphs>
  <Slides>58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ＭＳ Ｐゴシック</vt:lpstr>
      <vt:lpstr>Arial</vt:lpstr>
      <vt:lpstr>Arial (Body)</vt:lpstr>
      <vt:lpstr>Calibri</vt:lpstr>
      <vt:lpstr>Calibri Light</vt:lpstr>
      <vt:lpstr>CourierStd</vt:lpstr>
      <vt:lpstr>StoneSerifStd-Medium</vt:lpstr>
      <vt:lpstr>Times New Roman</vt:lpstr>
      <vt:lpstr>Office Theme</vt:lpstr>
      <vt:lpstr>Equation</vt:lpstr>
      <vt:lpstr>Introduction to Graphics CHP 5 Lecture 2</vt:lpstr>
      <vt:lpstr>Assembly and Rasterization</vt:lpstr>
      <vt:lpstr>Assembly and Rasterization</vt:lpstr>
      <vt:lpstr>PowerPoint Presentation</vt:lpstr>
      <vt:lpstr>Fragment Shader Invocations</vt:lpstr>
      <vt:lpstr>Fragment Shader Invocations</vt:lpstr>
      <vt:lpstr>Color Interpolation</vt:lpstr>
      <vt:lpstr>Color Interpolation</vt:lpstr>
      <vt:lpstr>Texture Mapping</vt:lpstr>
      <vt:lpstr>Texture Mapping</vt:lpstr>
      <vt:lpstr>Process</vt:lpstr>
      <vt:lpstr>Four Steps for Mapping</vt:lpstr>
      <vt:lpstr>PowerPoint Presentation</vt:lpstr>
      <vt:lpstr>Texture Coordinates</vt:lpstr>
      <vt:lpstr>Pasting Texture Images to Geometric Shape</vt:lpstr>
      <vt:lpstr>TextureQuad.JS</vt:lpstr>
      <vt:lpstr>TextureQuad.JS</vt:lpstr>
      <vt:lpstr>PowerPoint Presentation</vt:lpstr>
      <vt:lpstr>PowerPoint Presentation</vt:lpstr>
      <vt:lpstr>PowerPoint Presentation</vt:lpstr>
      <vt:lpstr>Steps For Texture Mapping</vt:lpstr>
      <vt:lpstr>Using Texture Coordinates</vt:lpstr>
      <vt:lpstr>Setting Up and Loading Images (initTextures())</vt:lpstr>
      <vt:lpstr>createTexture() Method</vt:lpstr>
      <vt:lpstr>Asynchronous Loading Texture Images</vt:lpstr>
      <vt:lpstr>Making Texture Ready to Use</vt:lpstr>
      <vt:lpstr>Flip an Image Y-Axix</vt:lpstr>
      <vt:lpstr>Flip an Image Y-Axix</vt:lpstr>
      <vt:lpstr>Active Texture Unit</vt:lpstr>
      <vt:lpstr>Active Texture Unit</vt:lpstr>
      <vt:lpstr>Binding a Texture Object</vt:lpstr>
      <vt:lpstr>Binding a Texture Object</vt:lpstr>
      <vt:lpstr>Setting the Texture Parameters</vt:lpstr>
      <vt:lpstr>Setting the Texture Parameters</vt:lpstr>
      <vt:lpstr>Setting the Texture Parameters</vt:lpstr>
      <vt:lpstr>Setting the Texture Parameters</vt:lpstr>
      <vt:lpstr>Assigning Texture Image to a Texture Object</vt:lpstr>
      <vt:lpstr>Assigning Texture Image to a Texture Object</vt:lpstr>
      <vt:lpstr>Assigning Texture Image to a Texture Object</vt:lpstr>
      <vt:lpstr>Assigning Texture Image to a Texture Object</vt:lpstr>
      <vt:lpstr>Retrieving the Texel Color</vt:lpstr>
      <vt:lpstr>Return Values of texture2D()</vt:lpstr>
      <vt:lpstr>WebGL System After Retrieving Texture</vt:lpstr>
      <vt:lpstr>PowerPoint Presentation</vt:lpstr>
      <vt:lpstr>Texture Mapping</vt:lpstr>
      <vt:lpstr>Texture Example</vt:lpstr>
      <vt:lpstr>Texture Mapping and the Web G L Pipeline</vt:lpstr>
      <vt:lpstr>Specifying a Texture Image</vt:lpstr>
      <vt:lpstr>Define Image as a Texture</vt:lpstr>
      <vt:lpstr>Mapping a Texture</vt:lpstr>
      <vt:lpstr>Interpolation</vt:lpstr>
      <vt:lpstr>Using Texture Objects</vt:lpstr>
      <vt:lpstr>Texture Parameters</vt:lpstr>
      <vt:lpstr>Wrapping Mode</vt:lpstr>
      <vt:lpstr>Magnification and Minification</vt:lpstr>
      <vt:lpstr>Filter Modes</vt:lpstr>
      <vt:lpstr>Applying Textures</vt:lpstr>
      <vt:lpstr>Vertex Shader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5</dc:title>
  <dc:creator>Abbasi, Ubaid</dc:creator>
  <cp:lastModifiedBy>Abbasi, Ubaid</cp:lastModifiedBy>
  <cp:revision>120</cp:revision>
  <dcterms:created xsi:type="dcterms:W3CDTF">2018-09-24T15:07:52Z</dcterms:created>
  <dcterms:modified xsi:type="dcterms:W3CDTF">2021-10-19T20:10:44Z</dcterms:modified>
</cp:coreProperties>
</file>
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0" r:id="rId24"/>
    <p:sldId id="278" r:id="rId25"/>
    <p:sldId id="279" r:id="rId26"/>
    <p:sldId id="282" r:id="rId27"/>
    <p:sldId id="283" r:id="rId28"/>
    <p:sldId id="284" r:id="rId29"/>
    <p:sldId id="285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11"/>
  </p:normalViewPr>
  <p:slideViewPr>
    <p:cSldViewPr snapToGrid="0" snapToObjects="1" showGuides="1">
      <p:cViewPr varScale="1">
        <p:scale>
          <a:sx n="99" d="100"/>
          <a:sy n="99" d="100"/>
        </p:scale>
        <p:origin x="96" y="2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6264B7-CF07-4F42-A340-EBCDA6C2CDE9}" type="datetimeFigureOut">
              <a:rPr lang="en-CA" smtClean="0"/>
              <a:t>2025-09-11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6EEB9E-9360-4349-82F3-6FB6877000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5935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6EEB9E-9360-4349-82F3-6FB68770008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7335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2581-1196-AC4D-B1BE-61A12FEA43E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42D040F-5506-9D43-BFF1-7AE7A9062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430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2581-1196-AC4D-B1BE-61A12FEA43E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D040F-5506-9D43-BFF1-7AE7A9062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727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2581-1196-AC4D-B1BE-61A12FEA43E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42D040F-5506-9D43-BFF1-7AE7A9062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432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2581-1196-AC4D-B1BE-61A12FEA43E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42D040F-5506-9D43-BFF1-7AE7A9062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449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2581-1196-AC4D-B1BE-61A12FEA43E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42D040F-5506-9D43-BFF1-7AE7A9062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692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2581-1196-AC4D-B1BE-61A12FEA43E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D040F-5506-9D43-BFF1-7AE7A9062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12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2581-1196-AC4D-B1BE-61A12FEA43E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D040F-5506-9D43-BFF1-7AE7A9062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521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2581-1196-AC4D-B1BE-61A12FEA43E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D040F-5506-9D43-BFF1-7AE7A9062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001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2581-1196-AC4D-B1BE-61A12FEA43E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42D040F-5506-9D43-BFF1-7AE7A9062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379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2581-1196-AC4D-B1BE-61A12FEA43E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42D040F-5506-9D43-BFF1-7AE7A9062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369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2581-1196-AC4D-B1BE-61A12FEA43E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42D040F-5506-9D43-BFF1-7AE7A906205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17958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2581-1196-AC4D-B1BE-61A12FEA43E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42D040F-5506-9D43-BFF1-7AE7A9062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381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2581-1196-AC4D-B1BE-61A12FEA43E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42D040F-5506-9D43-BFF1-7AE7A9062056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7197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2581-1196-AC4D-B1BE-61A12FEA43E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42D040F-5506-9D43-BFF1-7AE7A9062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174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2581-1196-AC4D-B1BE-61A12FEA43E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D040F-5506-9D43-BFF1-7AE7A9062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5157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2581-1196-AC4D-B1BE-61A12FEA43E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D040F-5506-9D43-BFF1-7AE7A9062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232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9A2581-1196-AC4D-B1BE-61A12FEA43E6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42D040F-5506-9D43-BFF1-7AE7A9062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013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5583" y="1207126"/>
            <a:ext cx="8915399" cy="2262781"/>
          </a:xfrm>
        </p:spPr>
        <p:txBody>
          <a:bodyPr/>
          <a:lstStyle/>
          <a:p>
            <a:r>
              <a:rPr lang="en-US" b="1" dirty="0"/>
              <a:t>Introduction to Graphics</a:t>
            </a:r>
            <a:br>
              <a:rPr lang="en-US" b="1" dirty="0"/>
            </a:br>
            <a:r>
              <a:rPr lang="en-US" b="1" dirty="0"/>
              <a:t>Lecture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Ubaid Abbasi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96177" y="4273034"/>
            <a:ext cx="7195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Reading: </a:t>
            </a:r>
            <a:r>
              <a:rPr lang="en-US" b="1" i="1" dirty="0" err="1"/>
              <a:t>Chp</a:t>
            </a:r>
            <a:r>
              <a:rPr lang="en-US" b="1" i="1" dirty="0"/>
              <a:t> 2 </a:t>
            </a:r>
            <a:r>
              <a:rPr lang="en-US" i="1" dirty="0"/>
              <a:t>of Text Book (Your First Step with </a:t>
            </a:r>
            <a:r>
              <a:rPr lang="en-US" i="1" dirty="0" err="1"/>
              <a:t>WebGL</a:t>
            </a:r>
            <a:r>
              <a:rPr lang="en-US" i="1" dirty="0"/>
              <a:t>)</a:t>
            </a:r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10753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/>
              <a:t> Shortest </a:t>
            </a:r>
            <a:r>
              <a:rPr lang="en-US" sz="3600" dirty="0" err="1"/>
              <a:t>WebGL</a:t>
            </a:r>
            <a:r>
              <a:rPr lang="en-US" sz="3600" dirty="0"/>
              <a:t> Program</a:t>
            </a:r>
          </a:p>
          <a:p>
            <a:r>
              <a:rPr lang="en-US" sz="3600" dirty="0"/>
              <a:t> Drawing a Point</a:t>
            </a:r>
          </a:p>
          <a:p>
            <a:r>
              <a:rPr lang="en-US" sz="3600" dirty="0"/>
              <a:t> </a:t>
            </a:r>
            <a:r>
              <a:rPr lang="en-US" sz="3600" dirty="0" err="1"/>
              <a:t>Shaders</a:t>
            </a:r>
            <a:endParaRPr lang="en-US" sz="3600" dirty="0"/>
          </a:p>
          <a:p>
            <a:r>
              <a:rPr lang="en-US" sz="3600" dirty="0"/>
              <a:t> Vertex and Fragment </a:t>
            </a:r>
            <a:r>
              <a:rPr lang="en-US" sz="3600" dirty="0" err="1"/>
              <a:t>Shaders</a:t>
            </a:r>
            <a:endParaRPr lang="en-US" sz="3600" dirty="0"/>
          </a:p>
          <a:p>
            <a:r>
              <a:rPr lang="en-US" sz="3600" dirty="0"/>
              <a:t> Draw Operation</a:t>
            </a:r>
          </a:p>
          <a:p>
            <a:r>
              <a:rPr lang="en-US" sz="3600" dirty="0"/>
              <a:t> </a:t>
            </a:r>
            <a:r>
              <a:rPr lang="en-US" sz="3600" dirty="0" err="1"/>
              <a:t>WebGL</a:t>
            </a:r>
            <a:r>
              <a:rPr lang="en-US" sz="3600" dirty="0"/>
              <a:t> Coordinate System</a:t>
            </a:r>
          </a:p>
        </p:txBody>
      </p:sp>
    </p:spTree>
    <p:extLst>
      <p:ext uri="{BB962C8B-B14F-4D97-AF65-F5344CB8AC3E}">
        <p14:creationId xmlns:p14="http://schemas.microsoft.com/office/powerpoint/2010/main" val="699330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Shortest </a:t>
            </a:r>
            <a:r>
              <a:rPr lang="en-US" b="1" dirty="0" err="1">
                <a:solidFill>
                  <a:srgbClr val="C00000"/>
                </a:solidFill>
              </a:rPr>
              <a:t>WebGL</a:t>
            </a:r>
            <a:r>
              <a:rPr lang="en-US" b="1" dirty="0">
                <a:solidFill>
                  <a:srgbClr val="C00000"/>
                </a:solidFill>
              </a:rPr>
              <a:t>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141078"/>
            <a:ext cx="10515600" cy="4351338"/>
          </a:xfrm>
        </p:spPr>
        <p:txBody>
          <a:bodyPr/>
          <a:lstStyle/>
          <a:p>
            <a:r>
              <a:rPr lang="en-US" dirty="0"/>
              <a:t> See </a:t>
            </a:r>
            <a:r>
              <a:rPr lang="en-US" dirty="0" err="1"/>
              <a:t>HelloCanvas.html</a:t>
            </a:r>
            <a:r>
              <a:rPr lang="en-US" dirty="0"/>
              <a:t> and </a:t>
            </a:r>
            <a:r>
              <a:rPr lang="en-US" dirty="0" err="1"/>
              <a:t>HelloCanvas.js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9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C00000"/>
                </a:solidFill>
              </a:rPr>
              <a:t>HelloCanvas.html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4074" y="1540189"/>
            <a:ext cx="8915400" cy="3777622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/>
              <a:t>Defining the drawing area using </a:t>
            </a:r>
            <a:r>
              <a:rPr lang="en-US" sz="3200" dirty="0">
                <a:solidFill>
                  <a:srgbClr val="FF0000"/>
                </a:solidFill>
              </a:rPr>
              <a:t>&lt;canvas&gt; </a:t>
            </a:r>
            <a:r>
              <a:rPr lang="en-US" sz="3200" dirty="0"/>
              <a:t>element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Import several other JavaScript files which provides useful convenience functions that help </a:t>
            </a:r>
            <a:r>
              <a:rPr lang="en-US" sz="3200" dirty="0" err="1"/>
              <a:t>WebGL</a:t>
            </a:r>
            <a:r>
              <a:rPr lang="en-US" sz="3200" dirty="0"/>
              <a:t> programming. Similar to libraries.</a:t>
            </a:r>
          </a:p>
          <a:p>
            <a:endParaRPr lang="en-US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4074" y="2267363"/>
            <a:ext cx="6898105" cy="16202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5155783"/>
            <a:ext cx="5743074" cy="161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992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C00000"/>
                </a:solidFill>
              </a:rPr>
              <a:t>HelloCanvas.js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7946"/>
            <a:ext cx="10515600" cy="4735596"/>
          </a:xfrm>
        </p:spPr>
        <p:txBody>
          <a:bodyPr>
            <a:noAutofit/>
          </a:bodyPr>
          <a:lstStyle/>
          <a:p>
            <a:r>
              <a:rPr lang="en-US" sz="3600" dirty="0"/>
              <a:t> Consist of four main steps</a:t>
            </a:r>
          </a:p>
          <a:p>
            <a:endParaRPr lang="en-US" sz="3600" dirty="0"/>
          </a:p>
          <a:p>
            <a:pPr lvl="1"/>
            <a:r>
              <a:rPr lang="en-US" sz="3600" dirty="0"/>
              <a:t> </a:t>
            </a:r>
            <a:r>
              <a:rPr lang="en-US" sz="3400" dirty="0"/>
              <a:t>Retrieve the </a:t>
            </a:r>
            <a:r>
              <a:rPr lang="en-US" sz="3400" dirty="0">
                <a:solidFill>
                  <a:srgbClr val="FF0000"/>
                </a:solidFill>
              </a:rPr>
              <a:t>&lt;canvas&gt; </a:t>
            </a:r>
            <a:r>
              <a:rPr lang="en-US" sz="3400" dirty="0"/>
              <a:t>element</a:t>
            </a:r>
          </a:p>
          <a:p>
            <a:pPr lvl="1"/>
            <a:r>
              <a:rPr lang="en-US" sz="3400" dirty="0"/>
              <a:t> Get the rendering context for WebGL</a:t>
            </a:r>
          </a:p>
          <a:p>
            <a:pPr lvl="1"/>
            <a:r>
              <a:rPr lang="en-US" sz="3400" dirty="0"/>
              <a:t> Set the color clearing </a:t>
            </a:r>
            <a:r>
              <a:rPr lang="en-US" sz="3400" dirty="0">
                <a:solidFill>
                  <a:srgbClr val="FF0000"/>
                </a:solidFill>
              </a:rPr>
              <a:t>&lt;canvas&gt;</a:t>
            </a:r>
            <a:endParaRPr lang="en-US" sz="3400" dirty="0"/>
          </a:p>
          <a:p>
            <a:pPr lvl="1"/>
            <a:r>
              <a:rPr lang="en-US" sz="3400" dirty="0"/>
              <a:t> Clear </a:t>
            </a:r>
            <a:r>
              <a:rPr lang="en-US" sz="3400" dirty="0">
                <a:solidFill>
                  <a:srgbClr val="FF0000"/>
                </a:solidFill>
              </a:rPr>
              <a:t>&lt;canvas&gt;</a:t>
            </a:r>
          </a:p>
        </p:txBody>
      </p:sp>
    </p:spTree>
    <p:extLst>
      <p:ext uri="{BB962C8B-B14F-4D97-AF65-F5344CB8AC3E}">
        <p14:creationId xmlns:p14="http://schemas.microsoft.com/office/powerpoint/2010/main" val="140184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US" sz="4400" dirty="0">
                <a:solidFill>
                  <a:srgbClr val="C00000"/>
                </a:solidFill>
              </a:rPr>
              <a:t>1. Retrieve the </a:t>
            </a:r>
            <a:r>
              <a:rPr lang="en-US" sz="4400" dirty="0">
                <a:solidFill>
                  <a:srgbClr val="FF0000"/>
                </a:solidFill>
              </a:rPr>
              <a:t>&lt;canvas&gt; </a:t>
            </a:r>
            <a:r>
              <a:rPr lang="en-US" sz="4400" dirty="0">
                <a:solidFill>
                  <a:srgbClr val="C00000"/>
                </a:solidFill>
              </a:rPr>
              <a:t>element</a:t>
            </a:r>
            <a:br>
              <a:rPr lang="en-US" sz="4400" dirty="0">
                <a:solidFill>
                  <a:srgbClr val="C00000"/>
                </a:solidFill>
              </a:rPr>
            </a:br>
            <a:endParaRPr lang="en-US" sz="44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716" y="1299410"/>
            <a:ext cx="11081084" cy="4906529"/>
          </a:xfrm>
        </p:spPr>
        <p:txBody>
          <a:bodyPr>
            <a:normAutofit fontScale="77500" lnSpcReduction="20000"/>
          </a:bodyPr>
          <a:lstStyle/>
          <a:p>
            <a:r>
              <a:rPr lang="en-US" sz="3200" dirty="0"/>
              <a:t> </a:t>
            </a:r>
            <a:r>
              <a:rPr lang="en-US" sz="3500" dirty="0"/>
              <a:t>main() function retrieves the canvas element from the file</a:t>
            </a:r>
          </a:p>
          <a:p>
            <a:endParaRPr lang="en-US" sz="3500" dirty="0"/>
          </a:p>
          <a:p>
            <a:r>
              <a:rPr lang="en-US" sz="3500" dirty="0"/>
              <a:t> The </a:t>
            </a:r>
            <a:r>
              <a:rPr lang="en-US" sz="3500" dirty="0" err="1"/>
              <a:t>argumet</a:t>
            </a:r>
            <a:r>
              <a:rPr lang="en-US" sz="3500" dirty="0"/>
              <a:t> </a:t>
            </a:r>
            <a:r>
              <a:rPr lang="en-US" sz="3500" dirty="0" err="1"/>
              <a:t>document.getElementById</a:t>
            </a:r>
            <a:r>
              <a:rPr lang="en-US" sz="3500" dirty="0"/>
              <a:t>() method is used to retrieve the canvas element</a:t>
            </a:r>
          </a:p>
          <a:p>
            <a:endParaRPr lang="en-US" sz="3500" dirty="0"/>
          </a:p>
          <a:p>
            <a:r>
              <a:rPr lang="en-US" sz="3500" dirty="0"/>
              <a:t> In </a:t>
            </a:r>
            <a:r>
              <a:rPr lang="en-US" sz="3500" dirty="0">
                <a:solidFill>
                  <a:srgbClr val="FF0000"/>
                </a:solidFill>
              </a:rPr>
              <a:t>HTML</a:t>
            </a:r>
            <a:r>
              <a:rPr lang="en-US" sz="3500" dirty="0"/>
              <a:t> file the attribute ‘id ‘ was set.</a:t>
            </a:r>
          </a:p>
          <a:p>
            <a:endParaRPr lang="en-US" sz="3500" dirty="0"/>
          </a:p>
          <a:p>
            <a:endParaRPr lang="en-US" sz="3500" dirty="0"/>
          </a:p>
          <a:p>
            <a:r>
              <a:rPr lang="en-US" sz="3500" dirty="0"/>
              <a:t>  The return value of this method is stored in the canvas variable in </a:t>
            </a:r>
            <a:r>
              <a:rPr lang="en-US" sz="3500" dirty="0" err="1">
                <a:solidFill>
                  <a:srgbClr val="FF0000"/>
                </a:solidFill>
              </a:rPr>
              <a:t>js</a:t>
            </a:r>
            <a:r>
              <a:rPr lang="en-US" sz="3500" dirty="0">
                <a:solidFill>
                  <a:srgbClr val="FF0000"/>
                </a:solidFill>
              </a:rPr>
              <a:t> </a:t>
            </a:r>
            <a:r>
              <a:rPr lang="en-US" sz="3500" dirty="0"/>
              <a:t>file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9355" t="4158"/>
          <a:stretch/>
        </p:blipFill>
        <p:spPr>
          <a:xfrm>
            <a:off x="5997259" y="4079671"/>
            <a:ext cx="5795331" cy="5570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228" y="6205940"/>
            <a:ext cx="6882062" cy="61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382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US" sz="4400" dirty="0">
                <a:solidFill>
                  <a:srgbClr val="C00000"/>
                </a:solidFill>
              </a:rPr>
              <a:t>2. Get the Rendering Context for </a:t>
            </a:r>
            <a:r>
              <a:rPr lang="en-US" sz="4400" dirty="0" err="1">
                <a:solidFill>
                  <a:srgbClr val="C00000"/>
                </a:solidFill>
              </a:rPr>
              <a:t>WebGL</a:t>
            </a:r>
            <a:br>
              <a:rPr lang="en-US" sz="4400" dirty="0">
                <a:solidFill>
                  <a:srgbClr val="C00000"/>
                </a:solidFill>
              </a:rPr>
            </a:br>
            <a:endParaRPr lang="en-US" sz="44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716" y="1825625"/>
            <a:ext cx="11081084" cy="4351338"/>
          </a:xfrm>
        </p:spPr>
        <p:txBody>
          <a:bodyPr>
            <a:normAutofit fontScale="85000" lnSpcReduction="10000"/>
          </a:bodyPr>
          <a:lstStyle/>
          <a:p>
            <a:r>
              <a:rPr lang="en-US" sz="32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&lt;canvas&gt; </a:t>
            </a:r>
            <a:r>
              <a:rPr lang="en-US" sz="3200" dirty="0"/>
              <a:t>is designed to be flexible and supports both </a:t>
            </a:r>
            <a:r>
              <a:rPr lang="en-US" sz="3200" i="1" dirty="0"/>
              <a:t>2D</a:t>
            </a:r>
            <a:r>
              <a:rPr lang="en-US" sz="3200" dirty="0"/>
              <a:t> and </a:t>
            </a:r>
            <a:r>
              <a:rPr lang="en-US" sz="3200" i="1" dirty="0"/>
              <a:t>3D</a:t>
            </a:r>
            <a:r>
              <a:rPr lang="en-US" sz="3200" dirty="0"/>
              <a:t> </a:t>
            </a:r>
          </a:p>
          <a:p>
            <a:endParaRPr lang="en-US" dirty="0"/>
          </a:p>
          <a:p>
            <a:r>
              <a:rPr lang="en-US" sz="3200" dirty="0"/>
              <a:t> It doesn’t provide drawing method directly, instead it provides context that specifies which feature you want to use</a:t>
            </a:r>
          </a:p>
          <a:p>
            <a:pPr marL="2286000" lvl="5" indent="0">
              <a:buNone/>
            </a:pPr>
            <a:endParaRPr lang="en-US" sz="3000" b="1" dirty="0"/>
          </a:p>
          <a:p>
            <a:pPr marL="2286000" lvl="5" indent="0">
              <a:buNone/>
            </a:pPr>
            <a:r>
              <a:rPr lang="en-US" sz="3000" b="1" dirty="0" err="1"/>
              <a:t>var</a:t>
            </a:r>
            <a:r>
              <a:rPr lang="en-US" sz="3000" b="1" dirty="0"/>
              <a:t> </a:t>
            </a:r>
            <a:r>
              <a:rPr lang="en-US" sz="3000" b="1" dirty="0" err="1"/>
              <a:t>gl</a:t>
            </a:r>
            <a:r>
              <a:rPr lang="en-US" sz="3000" b="1" dirty="0"/>
              <a:t> = </a:t>
            </a:r>
            <a:r>
              <a:rPr lang="en-US" sz="3000" b="1" dirty="0" err="1"/>
              <a:t>WebGLUtils.setupWebGL</a:t>
            </a:r>
            <a:r>
              <a:rPr lang="en-US" sz="3000" b="1" dirty="0"/>
              <a:t>(canvas)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</a:t>
            </a:r>
            <a:r>
              <a:rPr lang="en-US" sz="3200" dirty="0"/>
              <a:t>Some books defines there own function for rendering the context for example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0876" y="5812237"/>
            <a:ext cx="4276455" cy="497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61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248697" cy="1325563"/>
          </a:xfrm>
        </p:spPr>
        <p:txBody>
          <a:bodyPr>
            <a:normAutofit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US" sz="4400" dirty="0">
                <a:solidFill>
                  <a:srgbClr val="C00000"/>
                </a:solidFill>
              </a:rPr>
              <a:t>3. Set the Color for Clearing the </a:t>
            </a:r>
            <a:r>
              <a:rPr lang="en-US" sz="4400" dirty="0">
                <a:solidFill>
                  <a:srgbClr val="FF0000"/>
                </a:solidFill>
              </a:rPr>
              <a:t>&lt;canvas&gt;</a:t>
            </a:r>
            <a:br>
              <a:rPr lang="en-US" sz="4400" dirty="0">
                <a:solidFill>
                  <a:srgbClr val="C00000"/>
                </a:solidFill>
              </a:rPr>
            </a:br>
            <a:endParaRPr lang="en-US" sz="44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716" y="1825625"/>
            <a:ext cx="11081084" cy="4351338"/>
          </a:xfrm>
        </p:spPr>
        <p:txBody>
          <a:bodyPr>
            <a:normAutofit/>
          </a:bodyPr>
          <a:lstStyle/>
          <a:p>
            <a:r>
              <a:rPr lang="en-US" sz="3200" dirty="0"/>
              <a:t> In </a:t>
            </a:r>
            <a:r>
              <a:rPr lang="en-US" sz="3200" dirty="0" err="1"/>
              <a:t>WebGL</a:t>
            </a:r>
            <a:r>
              <a:rPr lang="en-US" sz="3200" dirty="0"/>
              <a:t> you need to set the color before actually cleaning the drawing area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505" y="2787839"/>
            <a:ext cx="5710989" cy="74491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83" y="3160295"/>
            <a:ext cx="10892589" cy="3697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387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other Colors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32" y="1690688"/>
            <a:ext cx="9705473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663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248697" cy="1325563"/>
          </a:xfrm>
        </p:spPr>
        <p:txBody>
          <a:bodyPr>
            <a:normAutofit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US" sz="4400" dirty="0">
                <a:solidFill>
                  <a:srgbClr val="C00000"/>
                </a:solidFill>
              </a:rPr>
              <a:t>3. Set the Color for Clearing the </a:t>
            </a:r>
            <a:r>
              <a:rPr lang="en-US" sz="4400" dirty="0">
                <a:solidFill>
                  <a:srgbClr val="FF0000"/>
                </a:solidFill>
              </a:rPr>
              <a:t>&lt;canvas&gt;</a:t>
            </a:r>
            <a:br>
              <a:rPr lang="en-US" sz="4400" dirty="0">
                <a:solidFill>
                  <a:srgbClr val="C00000"/>
                </a:solidFill>
              </a:rPr>
            </a:br>
            <a:endParaRPr lang="en-US" sz="44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716" y="1825625"/>
            <a:ext cx="11081084" cy="4351338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sz="3200" dirty="0"/>
              <a:t>Once you specify the clear color , the color is </a:t>
            </a:r>
            <a:r>
              <a:rPr lang="en-US" sz="3200" dirty="0" err="1"/>
              <a:t>retianed</a:t>
            </a:r>
            <a:r>
              <a:rPr lang="en-US" sz="3200" dirty="0"/>
              <a:t> in the </a:t>
            </a:r>
            <a:r>
              <a:rPr lang="en-US" sz="3200" dirty="0" err="1"/>
              <a:t>WebGL</a:t>
            </a:r>
            <a:r>
              <a:rPr lang="en-US" sz="3200" dirty="0"/>
              <a:t> system and not changed </a:t>
            </a:r>
            <a:r>
              <a:rPr lang="en-US" sz="3200" dirty="0" err="1"/>
              <a:t>untill</a:t>
            </a:r>
            <a:r>
              <a:rPr lang="en-US" sz="3200" dirty="0"/>
              <a:t> another color is specified by a call to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3200" dirty="0"/>
              <a:t> You don’t need to specify the clear color again if at some point in the future you want to clear area again using the same program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3659" b="42649"/>
          <a:stretch/>
        </p:blipFill>
        <p:spPr>
          <a:xfrm>
            <a:off x="3912268" y="3520692"/>
            <a:ext cx="3801979" cy="51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75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248697" cy="1325563"/>
          </a:xfrm>
        </p:spPr>
        <p:txBody>
          <a:bodyPr>
            <a:normAutofit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US" sz="4400" dirty="0">
                <a:solidFill>
                  <a:srgbClr val="C00000"/>
                </a:solidFill>
              </a:rPr>
              <a:t>4. Clearing the </a:t>
            </a:r>
            <a:r>
              <a:rPr lang="en-US" sz="4400" dirty="0">
                <a:solidFill>
                  <a:srgbClr val="FF0000"/>
                </a:solidFill>
              </a:rPr>
              <a:t>&lt;canvas&gt;</a:t>
            </a:r>
            <a:br>
              <a:rPr lang="en-US" sz="4400" dirty="0">
                <a:solidFill>
                  <a:srgbClr val="C00000"/>
                </a:solidFill>
              </a:rPr>
            </a:br>
            <a:endParaRPr lang="en-US" sz="44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716" y="1825625"/>
            <a:ext cx="11081084" cy="4351338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sz="3200" dirty="0"/>
              <a:t>Finally you can use the                  to clear the drawing area with the specified clear colors.</a:t>
            </a:r>
          </a:p>
          <a:p>
            <a:endParaRPr lang="en-US" sz="3200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sz="3200" dirty="0"/>
              <a:t>Why the argument is                           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733" y="1949179"/>
            <a:ext cx="1379621" cy="63232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b="33520"/>
          <a:stretch/>
        </p:blipFill>
        <p:spPr>
          <a:xfrm>
            <a:off x="4522369" y="3337384"/>
            <a:ext cx="3963905" cy="59277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b="29053"/>
          <a:stretch/>
        </p:blipFill>
        <p:spPr>
          <a:xfrm>
            <a:off x="4960080" y="4519813"/>
            <a:ext cx="2753031" cy="332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87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kern="0" dirty="0">
                <a:solidFill>
                  <a:srgbClr val="C00000"/>
                </a:solidFill>
              </a:rPr>
              <a:t>4. Clearing the </a:t>
            </a:r>
            <a:r>
              <a:rPr lang="en-US" b="1" kern="0" dirty="0">
                <a:solidFill>
                  <a:srgbClr val="FF0000"/>
                </a:solidFill>
              </a:rPr>
              <a:t>&lt;canvas&gt;</a:t>
            </a:r>
            <a:br>
              <a:rPr lang="en-US" b="1" kern="0" dirty="0">
                <a:solidFill>
                  <a:srgbClr val="C00000"/>
                </a:solidFill>
              </a:rPr>
            </a:b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64" y="1957137"/>
            <a:ext cx="11177336" cy="490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949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kern="0" dirty="0">
                <a:solidFill>
                  <a:srgbClr val="C00000"/>
                </a:solidFill>
              </a:rPr>
              <a:t>4. Clearing the </a:t>
            </a:r>
            <a:r>
              <a:rPr lang="en-US" b="1" kern="0" dirty="0">
                <a:solidFill>
                  <a:srgbClr val="FF0000"/>
                </a:solidFill>
              </a:rPr>
              <a:t>&lt;canvas&gt;</a:t>
            </a:r>
            <a:br>
              <a:rPr lang="en-US" b="1" kern="0" dirty="0">
                <a:solidFill>
                  <a:srgbClr val="C0000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 If no color has been specified then following default value is used.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798" t="4711" r="1672" b="13903"/>
          <a:stretch/>
        </p:blipFill>
        <p:spPr>
          <a:xfrm>
            <a:off x="1209591" y="3540073"/>
            <a:ext cx="10295021" cy="259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615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kern="0" dirty="0">
                <a:solidFill>
                  <a:srgbClr val="C00000"/>
                </a:solidFill>
              </a:rPr>
              <a:t>Experimenting with the Sample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970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kern="0" dirty="0">
                <a:solidFill>
                  <a:srgbClr val="C00000"/>
                </a:solidFill>
              </a:rPr>
              <a:t>What is a Shader?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4983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/>
              <a:t> Shader programs are necessary when you want to draw something on the screen in </a:t>
            </a:r>
          </a:p>
          <a:p>
            <a:endParaRPr lang="en-US" sz="3200" dirty="0"/>
          </a:p>
          <a:p>
            <a:r>
              <a:rPr lang="en-US" sz="3200" dirty="0"/>
              <a:t> Essentially, shader programs are embedded in the </a:t>
            </a:r>
            <a:r>
              <a:rPr lang="en-US" sz="3200" dirty="0" err="1"/>
              <a:t>javascript</a:t>
            </a:r>
            <a:r>
              <a:rPr lang="en-US" sz="3200" dirty="0"/>
              <a:t> file </a:t>
            </a:r>
          </a:p>
          <a:p>
            <a:endParaRPr lang="en-US" sz="3200" dirty="0"/>
          </a:p>
          <a:p>
            <a:r>
              <a:rPr lang="en-US" sz="3200" dirty="0"/>
              <a:t> </a:t>
            </a:r>
            <a:r>
              <a:rPr lang="en-US" sz="3200" dirty="0" err="1"/>
              <a:t>WebGL</a:t>
            </a:r>
            <a:r>
              <a:rPr lang="en-US" sz="3200" dirty="0"/>
              <a:t> needs following two types of </a:t>
            </a:r>
            <a:r>
              <a:rPr lang="en-US" sz="3200" dirty="0" err="1"/>
              <a:t>shaders</a:t>
            </a:r>
            <a:endParaRPr lang="en-US" sz="3200" dirty="0"/>
          </a:p>
          <a:p>
            <a:pPr lvl="1"/>
            <a:r>
              <a:rPr lang="en-US" sz="32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Vertex Shader</a:t>
            </a:r>
          </a:p>
          <a:p>
            <a:pPr lvl="1"/>
            <a:r>
              <a:rPr lang="en-US" sz="3200" dirty="0">
                <a:solidFill>
                  <a:srgbClr val="FF0000"/>
                </a:solidFill>
              </a:rPr>
              <a:t> Fragment Shader</a:t>
            </a:r>
          </a:p>
        </p:txBody>
      </p:sp>
    </p:spTree>
    <p:extLst>
      <p:ext uri="{BB962C8B-B14F-4D97-AF65-F5344CB8AC3E}">
        <p14:creationId xmlns:p14="http://schemas.microsoft.com/office/powerpoint/2010/main" val="120360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kern="0" dirty="0">
                <a:solidFill>
                  <a:srgbClr val="C00000"/>
                </a:solidFill>
              </a:rPr>
              <a:t>Vertex</a:t>
            </a:r>
            <a:r>
              <a:rPr lang="en-US" dirty="0"/>
              <a:t> </a:t>
            </a:r>
            <a:r>
              <a:rPr lang="en-US" b="1" kern="0" dirty="0">
                <a:solidFill>
                  <a:srgbClr val="C00000"/>
                </a:solidFill>
              </a:rPr>
              <a:t>Shader</a:t>
            </a:r>
            <a:endParaRPr lang="en-CA" b="1" kern="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12000" dirty="0"/>
              <a:t>Vertex </a:t>
            </a:r>
            <a:r>
              <a:rPr lang="en-US" sz="12000" dirty="0" err="1"/>
              <a:t>shaders</a:t>
            </a:r>
            <a:r>
              <a:rPr lang="en-US" sz="12000" dirty="0"/>
              <a:t> are programs that describe the traits</a:t>
            </a:r>
          </a:p>
          <a:p>
            <a:endParaRPr lang="en-US" sz="12000" dirty="0"/>
          </a:p>
          <a:p>
            <a:pPr lvl="1"/>
            <a:r>
              <a:rPr lang="en-US" sz="12000" dirty="0"/>
              <a:t> </a:t>
            </a:r>
            <a:r>
              <a:rPr lang="en-US" sz="12000" dirty="0">
                <a:solidFill>
                  <a:srgbClr val="FF0000"/>
                </a:solidFill>
              </a:rPr>
              <a:t>Position</a:t>
            </a:r>
          </a:p>
          <a:p>
            <a:pPr lvl="1"/>
            <a:r>
              <a:rPr lang="en-US" sz="12000" dirty="0">
                <a:solidFill>
                  <a:srgbClr val="FF0000"/>
                </a:solidFill>
              </a:rPr>
              <a:t> Color and so on</a:t>
            </a:r>
            <a:endParaRPr lang="en-CA" sz="12000" dirty="0">
              <a:solidFill>
                <a:srgbClr val="FF0000"/>
              </a:solidFill>
            </a:endParaRPr>
          </a:p>
          <a:p>
            <a:pPr lvl="1"/>
            <a:endParaRPr lang="en-US" sz="12000" dirty="0"/>
          </a:p>
          <a:p>
            <a:r>
              <a:rPr lang="en-US" sz="12000" dirty="0"/>
              <a:t> The vertex is a point in 2D/3D space, such as the corner or intersection of a 2D/3D shape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18185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kern="0" dirty="0">
                <a:solidFill>
                  <a:srgbClr val="C00000"/>
                </a:solidFill>
              </a:rPr>
              <a:t>Fragment</a:t>
            </a:r>
            <a:r>
              <a:rPr lang="en-US" dirty="0"/>
              <a:t> </a:t>
            </a:r>
            <a:r>
              <a:rPr lang="en-US" b="1" kern="0" dirty="0">
                <a:solidFill>
                  <a:srgbClr val="C00000"/>
                </a:solidFill>
              </a:rPr>
              <a:t>Shader</a:t>
            </a:r>
            <a:endParaRPr lang="en-CA" b="1" kern="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000" dirty="0"/>
              <a:t> A program that deals with per-fragment processing such as lighting.</a:t>
            </a:r>
          </a:p>
          <a:p>
            <a:endParaRPr lang="en-US" sz="3000" dirty="0"/>
          </a:p>
          <a:p>
            <a:r>
              <a:rPr lang="en-US" sz="3000" dirty="0"/>
              <a:t> The fragment is a </a:t>
            </a:r>
            <a:r>
              <a:rPr lang="en-US" sz="3000" dirty="0" err="1"/>
              <a:t>WebGL</a:t>
            </a:r>
            <a:r>
              <a:rPr lang="en-US" sz="3000" dirty="0"/>
              <a:t> term that you can consider as a kind of pixel</a:t>
            </a:r>
            <a:r>
              <a:rPr lang="en-US" dirty="0"/>
              <a:t>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68010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kern="0" dirty="0" err="1">
                <a:solidFill>
                  <a:srgbClr val="C00000"/>
                </a:solidFill>
              </a:rPr>
              <a:t>Shaders</a:t>
            </a:r>
            <a:endParaRPr lang="en-CA" b="1" kern="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86190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/>
              <a:t> Its not enough to draw graphics . It is important how they are viewed as light sources, hit them or the viewer perspective changes</a:t>
            </a:r>
          </a:p>
          <a:p>
            <a:endParaRPr lang="en-US" sz="3200" dirty="0"/>
          </a:p>
          <a:p>
            <a:r>
              <a:rPr lang="en-US" sz="3200" dirty="0"/>
              <a:t> Shading does this with a high degree of flexibility and is part of the reason that today’s graphics are so realistic</a:t>
            </a:r>
          </a:p>
          <a:p>
            <a:endParaRPr lang="en-US" sz="3200" dirty="0"/>
          </a:p>
          <a:p>
            <a:r>
              <a:rPr lang="en-US" sz="3200" dirty="0"/>
              <a:t>Shading allows new rendering effects to achieve stunning results.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710750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kern="0" dirty="0" err="1">
                <a:solidFill>
                  <a:srgbClr val="C00000"/>
                </a:solidFill>
              </a:rPr>
              <a:t>Shaders</a:t>
            </a:r>
            <a:endParaRPr lang="en-CA" dirty="0"/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160" y="1604772"/>
            <a:ext cx="9601200" cy="4786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9319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kern="0" dirty="0" err="1">
                <a:solidFill>
                  <a:srgbClr val="C00000"/>
                </a:solidFill>
              </a:rPr>
              <a:t>Shaders</a:t>
            </a:r>
            <a:endParaRPr lang="en-CA" sz="4000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192" y="2053272"/>
            <a:ext cx="8887968" cy="33965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931707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kern="0" dirty="0">
                <a:solidFill>
                  <a:srgbClr val="C00000"/>
                </a:solidFill>
              </a:rPr>
              <a:t>Example of shader Program ( HelloPoint.js)</a:t>
            </a:r>
            <a:endParaRPr lang="en-CA" b="1" kern="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48608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kern="0" dirty="0">
                <a:solidFill>
                  <a:srgbClr val="C00000"/>
                </a:solidFill>
              </a:rPr>
              <a:t>HelloPoint</a:t>
            </a:r>
            <a:r>
              <a:rPr lang="en-US" b="1" kern="0" dirty="0">
                <a:solidFill>
                  <a:srgbClr val="C00000"/>
                </a:solidFill>
              </a:rPr>
              <a:t>.js</a:t>
            </a:r>
            <a:endParaRPr lang="en-CA" b="1" kern="0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531" y="2279718"/>
            <a:ext cx="5788269" cy="29692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3385" y="1694943"/>
            <a:ext cx="50907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Are you familiar with this?</a:t>
            </a:r>
            <a:endParaRPr lang="en-CA" sz="3200" b="1" dirty="0"/>
          </a:p>
        </p:txBody>
      </p:sp>
    </p:spTree>
    <p:extLst>
      <p:ext uri="{BB962C8B-B14F-4D97-AF65-F5344CB8AC3E}">
        <p14:creationId xmlns:p14="http://schemas.microsoft.com/office/powerpoint/2010/main" val="18829007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837944" y="461962"/>
            <a:ext cx="7818120" cy="632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6198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kern="0" dirty="0">
                <a:solidFill>
                  <a:srgbClr val="C00000"/>
                </a:solidFill>
              </a:rPr>
              <a:t>HelloPoint</a:t>
            </a:r>
            <a:r>
              <a:rPr lang="en-US" b="1" kern="0" dirty="0">
                <a:solidFill>
                  <a:srgbClr val="C00000"/>
                </a:solidFill>
              </a:rPr>
              <a:t>.js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 </a:t>
            </a:r>
            <a:r>
              <a:rPr lang="en-US" sz="3200" dirty="0"/>
              <a:t>These programs must be treated as a single string, therefore each line of the shader is concatenated using the </a:t>
            </a:r>
            <a:r>
              <a:rPr lang="en-US" sz="3200" b="1" dirty="0">
                <a:solidFill>
                  <a:srgbClr val="FF0000"/>
                </a:solidFill>
              </a:rPr>
              <a:t>+ </a:t>
            </a:r>
            <a:r>
              <a:rPr lang="en-US" sz="3200" dirty="0"/>
              <a:t>operator</a:t>
            </a:r>
          </a:p>
          <a:p>
            <a:endParaRPr lang="en-US" sz="3200" dirty="0"/>
          </a:p>
          <a:p>
            <a:r>
              <a:rPr lang="en-US" sz="3200" dirty="0"/>
              <a:t> Each line has </a:t>
            </a:r>
            <a:r>
              <a:rPr lang="en-US" sz="3200" b="1" dirty="0">
                <a:solidFill>
                  <a:srgbClr val="FF0000"/>
                </a:solidFill>
              </a:rPr>
              <a:t>\n </a:t>
            </a:r>
            <a:r>
              <a:rPr lang="en-US" sz="3200" dirty="0"/>
              <a:t>at the end because the line number is displayed when an error occurs in the shader</a:t>
            </a:r>
            <a:endParaRPr lang="en-CA" sz="3200" dirty="0"/>
          </a:p>
        </p:txBody>
      </p:sp>
    </p:spTree>
    <p:extLst>
      <p:ext uri="{BB962C8B-B14F-4D97-AF65-F5344CB8AC3E}">
        <p14:creationId xmlns:p14="http://schemas.microsoft.com/office/powerpoint/2010/main" val="32771735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kern="0" dirty="0">
                <a:solidFill>
                  <a:srgbClr val="C00000"/>
                </a:solidFill>
              </a:rPr>
              <a:t>Initializing</a:t>
            </a:r>
            <a:r>
              <a:rPr lang="en-US" dirty="0"/>
              <a:t> </a:t>
            </a:r>
            <a:r>
              <a:rPr lang="en-US" b="1" kern="0" dirty="0" err="1">
                <a:solidFill>
                  <a:srgbClr val="C00000"/>
                </a:solidFill>
              </a:rPr>
              <a:t>Shaders</a:t>
            </a:r>
            <a:endParaRPr lang="en-CA" b="1" kern="0" dirty="0">
              <a:solidFill>
                <a:srgbClr val="C0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18200" y="2470150"/>
            <a:ext cx="2257425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9768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kern="0" dirty="0">
                <a:solidFill>
                  <a:srgbClr val="C00000"/>
                </a:solidFill>
              </a:rPr>
              <a:t>Initializing</a:t>
            </a:r>
            <a:r>
              <a:rPr lang="en-US" dirty="0"/>
              <a:t> </a:t>
            </a:r>
            <a:r>
              <a:rPr lang="en-US" b="1" kern="0" dirty="0" err="1">
                <a:solidFill>
                  <a:srgbClr val="C00000"/>
                </a:solidFill>
              </a:rPr>
              <a:t>Shaders</a:t>
            </a:r>
            <a:endParaRPr lang="en-CA" b="1" kern="0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985" y="2267882"/>
            <a:ext cx="7746023" cy="30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6543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kern="0" dirty="0">
                <a:solidFill>
                  <a:srgbClr val="C00000"/>
                </a:solidFill>
              </a:rPr>
              <a:t>Behavior</a:t>
            </a:r>
            <a:r>
              <a:rPr lang="en-US" dirty="0"/>
              <a:t> </a:t>
            </a:r>
            <a:r>
              <a:rPr lang="en-US" b="1" kern="0" dirty="0">
                <a:solidFill>
                  <a:srgbClr val="C00000"/>
                </a:solidFill>
              </a:rPr>
              <a:t>of </a:t>
            </a:r>
            <a:r>
              <a:rPr lang="en-US" b="1" kern="0" dirty="0" err="1">
                <a:solidFill>
                  <a:srgbClr val="C00000"/>
                </a:solidFill>
              </a:rPr>
              <a:t>initShader</a:t>
            </a:r>
            <a:r>
              <a:rPr lang="en-US" b="1" kern="0" dirty="0">
                <a:solidFill>
                  <a:srgbClr val="C00000"/>
                </a:solidFill>
              </a:rPr>
              <a:t>()</a:t>
            </a:r>
            <a:endParaRPr lang="en-CA" b="1" kern="0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099" y="2067507"/>
            <a:ext cx="5734801" cy="43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71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kern="0" dirty="0">
                <a:solidFill>
                  <a:srgbClr val="C00000"/>
                </a:solidFill>
              </a:rPr>
              <a:t>Homogeneous</a:t>
            </a:r>
            <a:r>
              <a:rPr lang="en-US" dirty="0"/>
              <a:t> </a:t>
            </a:r>
            <a:r>
              <a:rPr lang="en-US" b="1" kern="0" dirty="0">
                <a:solidFill>
                  <a:srgbClr val="C00000"/>
                </a:solidFill>
              </a:rPr>
              <a:t>Coordinates</a:t>
            </a:r>
            <a:endParaRPr lang="en-CA" b="1" kern="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3015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 </a:t>
            </a:r>
            <a:r>
              <a:rPr lang="en-US" sz="3200" dirty="0"/>
              <a:t>Vertex shader uses homogenous coordinate system (X,Y,Z,W)</a:t>
            </a:r>
          </a:p>
          <a:p>
            <a:endParaRPr lang="en-US" sz="3200" dirty="0"/>
          </a:p>
          <a:p>
            <a:pPr lvl="1"/>
            <a:r>
              <a:rPr lang="en-US" sz="2800" dirty="0"/>
              <a:t> The homogenous coordinates is equivalent to the three dimensional coordinate (X/W, Y/W, Z/W).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 So, If you set </a:t>
            </a:r>
            <a:r>
              <a:rPr lang="en-US" sz="2800" dirty="0">
                <a:solidFill>
                  <a:srgbClr val="FF0000"/>
                </a:solidFill>
              </a:rPr>
              <a:t>W to 1 </a:t>
            </a:r>
            <a:r>
              <a:rPr lang="en-US" sz="2800" dirty="0"/>
              <a:t>you can utilize homogenous coordinates as </a:t>
            </a:r>
            <a:r>
              <a:rPr lang="en-US" sz="2800" dirty="0">
                <a:solidFill>
                  <a:srgbClr val="FF0000"/>
                </a:solidFill>
              </a:rPr>
              <a:t>three </a:t>
            </a:r>
            <a:r>
              <a:rPr lang="en-US" sz="2800" dirty="0"/>
              <a:t>dimensional coordinates .</a:t>
            </a:r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  Later on we will see </a:t>
            </a:r>
            <a:r>
              <a:rPr lang="en-US" sz="2800" dirty="0">
                <a:solidFill>
                  <a:srgbClr val="FF0000"/>
                </a:solidFill>
              </a:rPr>
              <a:t>if W=0</a:t>
            </a:r>
            <a:r>
              <a:rPr lang="en-US" sz="2800" dirty="0"/>
              <a:t>, coordinates approaches to infinity , What does that mean to the graphics.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15113625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870131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181</TotalTime>
  <Words>758</Words>
  <Application>Microsoft Office PowerPoint</Application>
  <PresentationFormat>Widescreen</PresentationFormat>
  <Paragraphs>118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Arial</vt:lpstr>
      <vt:lpstr>Century Gothic</vt:lpstr>
      <vt:lpstr>Wingdings 3</vt:lpstr>
      <vt:lpstr>Wisp</vt:lpstr>
      <vt:lpstr>Introduction to Graphics Lecture 2</vt:lpstr>
      <vt:lpstr>Outline</vt:lpstr>
      <vt:lpstr>Shortest WebGL Program</vt:lpstr>
      <vt:lpstr>HelloCanvas.html</vt:lpstr>
      <vt:lpstr>HelloCanvas.js</vt:lpstr>
      <vt:lpstr>1. Retrieve the &lt;canvas&gt; element </vt:lpstr>
      <vt:lpstr>2. Get the Rendering Context for WebGL </vt:lpstr>
      <vt:lpstr>3. Set the Color for Clearing the &lt;canvas&gt; </vt:lpstr>
      <vt:lpstr>Examples of other Colors</vt:lpstr>
      <vt:lpstr>3. Set the Color for Clearing the &lt;canvas&gt; </vt:lpstr>
      <vt:lpstr>4. Clearing the &lt;canvas&gt; </vt:lpstr>
      <vt:lpstr>4. Clearing the &lt;canvas&gt; </vt:lpstr>
      <vt:lpstr>4. Clearing the &lt;canvas&gt; </vt:lpstr>
      <vt:lpstr>Experimenting with the Sample Program</vt:lpstr>
      <vt:lpstr>What is a Shader?</vt:lpstr>
      <vt:lpstr>Vertex Shader</vt:lpstr>
      <vt:lpstr>Fragment Shader</vt:lpstr>
      <vt:lpstr>Shaders</vt:lpstr>
      <vt:lpstr>Shaders</vt:lpstr>
      <vt:lpstr>Shaders</vt:lpstr>
      <vt:lpstr>Example of shader Program ( HelloPoint.js)</vt:lpstr>
      <vt:lpstr>HelloPoint.js</vt:lpstr>
      <vt:lpstr>PowerPoint Presentation</vt:lpstr>
      <vt:lpstr>HelloPoint.js</vt:lpstr>
      <vt:lpstr>Initializing Shaders</vt:lpstr>
      <vt:lpstr>Initializing Shaders</vt:lpstr>
      <vt:lpstr>Behavior of initShader()</vt:lpstr>
      <vt:lpstr>Homogeneous Coordinates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Graphics Lecture 2</dc:title>
  <dc:creator>Ubaid Abbasi</dc:creator>
  <cp:lastModifiedBy>Abbasi, Ubaid</cp:lastModifiedBy>
  <cp:revision>24</cp:revision>
  <dcterms:created xsi:type="dcterms:W3CDTF">2018-09-09T22:49:56Z</dcterms:created>
  <dcterms:modified xsi:type="dcterms:W3CDTF">2025-09-11T15:58:57Z</dcterms:modified>
</cp:coreProperties>
</file>
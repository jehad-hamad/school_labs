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72C62-04F7-5774-BBFF-F4B2BEDBFD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775A5E8-3542-F612-0443-FB7AF0C3E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B86500F-7469-EC0D-8CF2-100EC433FD63}"/>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FFB1E020-81C0-4A4A-C5BF-8B536C801DF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D7FD1E-274D-CF1D-21C2-5A49C5A5EF10}"/>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53385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F11D9-DC39-41FC-578F-FE10D15EC88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D46608-F3A6-A6CE-A9B9-73BE4B7D80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9D5AD3B-3E11-D8AC-27FD-F688A924D301}"/>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17CDAB79-9170-2E91-229D-A918E2278F4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70C3A2B-69EF-3B7E-9A90-37B642F40E60}"/>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3193432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D2E2-50DF-8BBD-9C6A-FE38C031F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5F0F042-E46F-4A7E-B315-F944D6127B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33FEA9-2260-D230-7FC6-11E1F3E4B0AE}"/>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69FF7D17-D1C2-8BF9-28BB-AD7DE3559F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37688C1-0CA5-D175-57F2-648534B615D4}"/>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2818015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C2C0-BD19-26B1-DBE3-FEE5A2CA9DA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AF5255F-FEFF-514F-E8CC-ED9AF8DAF9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18E8C7C-A8AA-3F6A-D6FE-492600A3C0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D8F6D01-EFD8-5BF5-606E-007CF7BD86AB}"/>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6" name="Footer Placeholder 5">
            <a:extLst>
              <a:ext uri="{FF2B5EF4-FFF2-40B4-BE49-F238E27FC236}">
                <a16:creationId xmlns:a16="http://schemas.microsoft.com/office/drawing/2014/main" id="{FD9C0C7C-DB61-723F-CF98-C0DE530B1A4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58911E-E7A1-8589-3327-66790E9C2BFD}"/>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1117929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E5E04-3064-8718-1B63-DE74EF96A05E}"/>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1A5EB7F-6985-A984-BD1B-79914E86F3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FF4E4F-556A-CEB5-8627-2175E6BF9B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F9D9921-813C-E981-D449-ACA5670D7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CEDBBE-D235-73CE-F47E-0C7FB4D805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527A76D-E8FC-B6E8-7172-D55E3A681006}"/>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8" name="Footer Placeholder 7">
            <a:extLst>
              <a:ext uri="{FF2B5EF4-FFF2-40B4-BE49-F238E27FC236}">
                <a16:creationId xmlns:a16="http://schemas.microsoft.com/office/drawing/2014/main" id="{E6C104C5-3C8C-09CF-0EC3-DBBCD0316218}"/>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E785489-1125-43CC-0803-9818921319C4}"/>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2188949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D7344-E0B6-0147-1606-797EBEED10F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D592434-2DC1-0887-E565-CD75C8EA8DB2}"/>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4" name="Footer Placeholder 3">
            <a:extLst>
              <a:ext uri="{FF2B5EF4-FFF2-40B4-BE49-F238E27FC236}">
                <a16:creationId xmlns:a16="http://schemas.microsoft.com/office/drawing/2014/main" id="{01F53D1E-AA62-5C94-DC1F-C3A03E31857F}"/>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11F3F5A-A487-21DE-3489-7FED5ED5CCDB}"/>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3656269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EA6735-91E3-AAE7-4D78-596418B12DA7}"/>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3" name="Footer Placeholder 2">
            <a:extLst>
              <a:ext uri="{FF2B5EF4-FFF2-40B4-BE49-F238E27FC236}">
                <a16:creationId xmlns:a16="http://schemas.microsoft.com/office/drawing/2014/main" id="{34AFDC33-9779-6027-2D40-3C6F42BB419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FE0EC9C-FA33-2AE7-71F7-6A9927FDE159}"/>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291595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B96D-56B8-D395-A5B6-CE63245AE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DDC4473-5CC5-CA34-F306-8534B0801A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CDC7357-78E0-CAA9-9256-AD67A7DFC9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D5A768-FDDB-8091-076C-5E3FF0FF1ACB}"/>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6" name="Footer Placeholder 5">
            <a:extLst>
              <a:ext uri="{FF2B5EF4-FFF2-40B4-BE49-F238E27FC236}">
                <a16:creationId xmlns:a16="http://schemas.microsoft.com/office/drawing/2014/main" id="{49AED529-C61A-D212-3950-CC93A5D75FF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0E1D8DF-88A5-DFA8-17CC-A92E9A42A2D5}"/>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195933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A50D4-8687-58F6-D0F1-8299F1406D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F924A37-C7BC-BD4D-D55F-AEC203A824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D435086-2E2F-DF17-3904-1EA53C2EC6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A8CDB-D3A0-8EC3-B88B-8A687D29924B}"/>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6" name="Footer Placeholder 5">
            <a:extLst>
              <a:ext uri="{FF2B5EF4-FFF2-40B4-BE49-F238E27FC236}">
                <a16:creationId xmlns:a16="http://schemas.microsoft.com/office/drawing/2014/main" id="{BD58ECB5-FC1B-E232-B560-B3878C04E25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E13A42E-7CDB-9CCA-8AC7-B2C8152C5D11}"/>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15498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5E2E9-7E86-1F88-8D51-3A1B961EDE2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A537ACF-534B-8AB7-E73E-6A1C205EC1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6A19A1D-EB6A-FCB0-B219-6E215CAD1E0C}"/>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A3A5DA96-1D59-FFBE-05EF-3FB7B8A2FBB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EA4544B-FD83-D823-99F9-D4A59C936CA7}"/>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1962231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25A36C-DE93-B36C-A27F-67AA8E3ED3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F414E5C-A0D7-8961-18D9-0FC00BADA8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F41B63B-61DF-67D8-BAE1-069F52C28CD2}"/>
              </a:ext>
            </a:extLst>
          </p:cNvPr>
          <p:cNvSpPr>
            <a:spLocks noGrp="1"/>
          </p:cNvSpPr>
          <p:nvPr>
            <p:ph type="dt" sz="half" idx="10"/>
          </p:nvPr>
        </p:nvSpPr>
        <p:spPr/>
        <p:txBody>
          <a:body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DB5038BD-0C09-F471-56D9-578212955DE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8C60A10-1D67-44ED-2446-28CC601BF153}"/>
              </a:ext>
            </a:extLst>
          </p:cNvPr>
          <p:cNvSpPr>
            <a:spLocks noGrp="1"/>
          </p:cNvSpPr>
          <p:nvPr>
            <p:ph type="sldNum" sz="quarter" idx="12"/>
          </p:nvPr>
        </p:nvSpPr>
        <p:spPr/>
        <p:txBody>
          <a:bodyPr/>
          <a:lstStyle/>
          <a:p>
            <a:fld id="{0D21F2FA-2AEA-403B-B75B-9A03E350922F}" type="slidenum">
              <a:rPr lang="en-CA" smtClean="0"/>
              <a:t>‹#›</a:t>
            </a:fld>
            <a:endParaRPr lang="en-CA"/>
          </a:p>
        </p:txBody>
      </p:sp>
    </p:spTree>
    <p:extLst>
      <p:ext uri="{BB962C8B-B14F-4D97-AF65-F5344CB8AC3E}">
        <p14:creationId xmlns:p14="http://schemas.microsoft.com/office/powerpoint/2010/main" val="1589254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72DDA0-E8B0-8207-B1A9-16609CB4DD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CE0013B-84CB-1286-E4EF-FCFC257AE1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CF10867-1CAC-C41F-EE36-E0E9C4C65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F18269-EBD9-4E8B-A555-9737BF4EFBA4}" type="datetimeFigureOut">
              <a:rPr lang="en-CA" smtClean="0"/>
              <a:t>2025-12-04</a:t>
            </a:fld>
            <a:endParaRPr lang="en-CA"/>
          </a:p>
        </p:txBody>
      </p:sp>
      <p:sp>
        <p:nvSpPr>
          <p:cNvPr id="5" name="Footer Placeholder 4">
            <a:extLst>
              <a:ext uri="{FF2B5EF4-FFF2-40B4-BE49-F238E27FC236}">
                <a16:creationId xmlns:a16="http://schemas.microsoft.com/office/drawing/2014/main" id="{6E7BE199-1D0E-A23D-8501-4A4E8D0CB5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0081B85-9C0A-A28D-33DF-4599E82AD0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21F2FA-2AEA-403B-B75B-9A03E350922F}" type="slidenum">
              <a:rPr lang="en-CA" smtClean="0"/>
              <a:t>‹#›</a:t>
            </a:fld>
            <a:endParaRPr lang="en-CA"/>
          </a:p>
        </p:txBody>
      </p:sp>
    </p:spTree>
    <p:extLst>
      <p:ext uri="{BB962C8B-B14F-4D97-AF65-F5344CB8AC3E}">
        <p14:creationId xmlns:p14="http://schemas.microsoft.com/office/powerpoint/2010/main" val="2135805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2533-6F08-FEB3-C99A-8261911FFCE2}"/>
              </a:ext>
            </a:extLst>
          </p:cNvPr>
          <p:cNvSpPr>
            <a:spLocks noGrp="1"/>
          </p:cNvSpPr>
          <p:nvPr>
            <p:ph type="ctrTitle"/>
          </p:nvPr>
        </p:nvSpPr>
        <p:spPr/>
        <p:txBody>
          <a:bodyPr/>
          <a:lstStyle/>
          <a:p>
            <a:r>
              <a:rPr lang="en-CA" dirty="0"/>
              <a:t>Advance Techniques</a:t>
            </a:r>
          </a:p>
        </p:txBody>
      </p:sp>
      <p:sp>
        <p:nvSpPr>
          <p:cNvPr id="3" name="Subtitle 2">
            <a:extLst>
              <a:ext uri="{FF2B5EF4-FFF2-40B4-BE49-F238E27FC236}">
                <a16:creationId xmlns:a16="http://schemas.microsoft.com/office/drawing/2014/main" id="{79F498EB-CA4E-EC0A-D9BD-76D52698CB1A}"/>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91791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A172D-E8A9-624C-40F5-4E006AD7AC5F}"/>
              </a:ext>
            </a:extLst>
          </p:cNvPr>
          <p:cNvSpPr>
            <a:spLocks noGrp="1"/>
          </p:cNvSpPr>
          <p:nvPr>
            <p:ph type="title"/>
          </p:nvPr>
        </p:nvSpPr>
        <p:spPr>
          <a:xfrm>
            <a:off x="0" y="0"/>
            <a:ext cx="10515600" cy="1325563"/>
          </a:xfrm>
        </p:spPr>
        <p:txBody>
          <a:bodyPr/>
          <a:lstStyle/>
          <a:p>
            <a:r>
              <a:rPr lang="en-CA" b="1" dirty="0"/>
              <a:t>Creating Shaders</a:t>
            </a:r>
          </a:p>
        </p:txBody>
      </p:sp>
      <p:sp>
        <p:nvSpPr>
          <p:cNvPr id="3" name="Content Placeholder 2">
            <a:extLst>
              <a:ext uri="{FF2B5EF4-FFF2-40B4-BE49-F238E27FC236}">
                <a16:creationId xmlns:a16="http://schemas.microsoft.com/office/drawing/2014/main" id="{9AAA28AC-715C-10BC-D572-97BB017C7CAF}"/>
              </a:ext>
            </a:extLst>
          </p:cNvPr>
          <p:cNvSpPr>
            <a:spLocks noGrp="1"/>
          </p:cNvSpPr>
          <p:nvPr>
            <p:ph idx="1"/>
          </p:nvPr>
        </p:nvSpPr>
        <p:spPr>
          <a:xfrm>
            <a:off x="228600" y="1496440"/>
            <a:ext cx="11878056" cy="4996435"/>
          </a:xfrm>
        </p:spPr>
        <p:txBody>
          <a:bodyPr>
            <a:normAutofit/>
          </a:bodyPr>
          <a:lstStyle/>
          <a:p>
            <a:pPr marL="0" indent="0">
              <a:buNone/>
            </a:pPr>
            <a:r>
              <a:rPr lang="en-US" b="1" dirty="0"/>
              <a:t>1. </a:t>
            </a:r>
            <a:r>
              <a:rPr lang="en-US" dirty="0"/>
              <a:t>Create shader objects ( </a:t>
            </a:r>
            <a:r>
              <a:rPr lang="en-US" b="1" i="1" dirty="0" err="1"/>
              <a:t>gl.createShader</a:t>
            </a:r>
            <a:r>
              <a:rPr lang="en-US" dirty="0"/>
              <a:t>() ).</a:t>
            </a:r>
          </a:p>
          <a:p>
            <a:pPr marL="0" indent="0">
              <a:buNone/>
            </a:pPr>
            <a:r>
              <a:rPr lang="en-US" b="1" dirty="0"/>
              <a:t>2. </a:t>
            </a:r>
            <a:r>
              <a:rPr lang="en-US" dirty="0"/>
              <a:t>Store the shader programs (to avoid confusion, we refer to them as “source code”) in the shader objects ( </a:t>
            </a:r>
            <a:r>
              <a:rPr lang="en-US" b="1" i="1" dirty="0" err="1"/>
              <a:t>g.shaderSource</a:t>
            </a:r>
            <a:r>
              <a:rPr lang="en-US" b="1" i="1" dirty="0"/>
              <a:t>() </a:t>
            </a:r>
            <a:r>
              <a:rPr lang="en-US" dirty="0"/>
              <a:t>).</a:t>
            </a:r>
          </a:p>
          <a:p>
            <a:pPr marL="0" indent="0">
              <a:buNone/>
            </a:pPr>
            <a:r>
              <a:rPr lang="en-US" b="1" dirty="0"/>
              <a:t>3. </a:t>
            </a:r>
            <a:r>
              <a:rPr lang="en-US" dirty="0"/>
              <a:t>Compile the shader objects ( </a:t>
            </a:r>
            <a:r>
              <a:rPr lang="en-US" b="1" i="1" dirty="0" err="1"/>
              <a:t>gl.compileShader</a:t>
            </a:r>
            <a:r>
              <a:rPr lang="en-US" b="1" i="1" dirty="0"/>
              <a:t>() </a:t>
            </a:r>
            <a:r>
              <a:rPr lang="en-US" dirty="0"/>
              <a:t>).</a:t>
            </a:r>
          </a:p>
          <a:p>
            <a:pPr marL="0" indent="0">
              <a:buNone/>
            </a:pPr>
            <a:r>
              <a:rPr lang="en-US" b="1" dirty="0"/>
              <a:t>4. </a:t>
            </a:r>
            <a:r>
              <a:rPr lang="en-US" dirty="0"/>
              <a:t>Create a program object ( </a:t>
            </a:r>
            <a:r>
              <a:rPr lang="en-US" b="1" i="1" dirty="0" err="1"/>
              <a:t>gl.createProgram</a:t>
            </a:r>
            <a:r>
              <a:rPr lang="en-US" b="1" i="1" dirty="0"/>
              <a:t>() </a:t>
            </a:r>
            <a:r>
              <a:rPr lang="en-US" dirty="0"/>
              <a:t>).</a:t>
            </a:r>
          </a:p>
          <a:p>
            <a:pPr marL="0" indent="0">
              <a:buNone/>
            </a:pPr>
            <a:r>
              <a:rPr lang="en-US" b="1" dirty="0"/>
              <a:t>5. </a:t>
            </a:r>
            <a:r>
              <a:rPr lang="en-US" dirty="0"/>
              <a:t>Attach the shader objects to the program object ( </a:t>
            </a:r>
            <a:r>
              <a:rPr lang="en-US" b="1" i="1" dirty="0" err="1"/>
              <a:t>gl.attachShader</a:t>
            </a:r>
            <a:r>
              <a:rPr lang="en-US" b="1" i="1" dirty="0"/>
              <a:t>() </a:t>
            </a:r>
            <a:r>
              <a:rPr lang="en-US" dirty="0"/>
              <a:t>).</a:t>
            </a:r>
          </a:p>
          <a:p>
            <a:pPr marL="0" indent="0">
              <a:buNone/>
            </a:pPr>
            <a:r>
              <a:rPr lang="en-US" b="1" dirty="0"/>
              <a:t>6. </a:t>
            </a:r>
            <a:r>
              <a:rPr lang="en-US" dirty="0"/>
              <a:t>Link the program object ( </a:t>
            </a:r>
            <a:r>
              <a:rPr lang="en-US" b="1" i="1" dirty="0" err="1"/>
              <a:t>gl.linkProgram</a:t>
            </a:r>
            <a:r>
              <a:rPr lang="en-US" b="1" i="1" dirty="0"/>
              <a:t>() </a:t>
            </a:r>
            <a:r>
              <a:rPr lang="en-US" dirty="0"/>
              <a:t>).</a:t>
            </a:r>
          </a:p>
          <a:p>
            <a:pPr marL="0" indent="0">
              <a:buNone/>
            </a:pPr>
            <a:r>
              <a:rPr lang="en-US" b="1" dirty="0"/>
              <a:t>7. </a:t>
            </a:r>
            <a:r>
              <a:rPr lang="en-US" dirty="0"/>
              <a:t>Tell the WebGL system the program object to be used ( </a:t>
            </a:r>
            <a:r>
              <a:rPr lang="en-US" b="1" i="1" dirty="0" err="1"/>
              <a:t>gl.useProgram</a:t>
            </a:r>
            <a:r>
              <a:rPr lang="en-US" b="1" i="1" dirty="0"/>
              <a:t>() </a:t>
            </a:r>
            <a:r>
              <a:rPr lang="en-US" dirty="0"/>
              <a:t>).</a:t>
            </a:r>
            <a:endParaRPr lang="en-CA" dirty="0"/>
          </a:p>
        </p:txBody>
      </p:sp>
    </p:spTree>
    <p:extLst>
      <p:ext uri="{BB962C8B-B14F-4D97-AF65-F5344CB8AC3E}">
        <p14:creationId xmlns:p14="http://schemas.microsoft.com/office/powerpoint/2010/main" val="117154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E6EA-A895-6644-2B82-C51DDA4F98F2}"/>
              </a:ext>
            </a:extLst>
          </p:cNvPr>
          <p:cNvSpPr>
            <a:spLocks noGrp="1"/>
          </p:cNvSpPr>
          <p:nvPr>
            <p:ph type="title"/>
          </p:nvPr>
        </p:nvSpPr>
        <p:spPr>
          <a:xfrm>
            <a:off x="79248" y="18255"/>
            <a:ext cx="10515600" cy="1325563"/>
          </a:xfrm>
        </p:spPr>
        <p:txBody>
          <a:bodyPr/>
          <a:lstStyle/>
          <a:p>
            <a:r>
              <a:rPr lang="en-CA" b="1" dirty="0"/>
              <a:t>Creating Shaders</a:t>
            </a:r>
          </a:p>
        </p:txBody>
      </p:sp>
      <p:sp>
        <p:nvSpPr>
          <p:cNvPr id="3" name="Content Placeholder 2">
            <a:extLst>
              <a:ext uri="{FF2B5EF4-FFF2-40B4-BE49-F238E27FC236}">
                <a16:creationId xmlns:a16="http://schemas.microsoft.com/office/drawing/2014/main" id="{0F84FF3A-2281-90E0-9FAA-1957C0F736E3}"/>
              </a:ext>
            </a:extLst>
          </p:cNvPr>
          <p:cNvSpPr>
            <a:spLocks noGrp="1"/>
          </p:cNvSpPr>
          <p:nvPr>
            <p:ph idx="1"/>
          </p:nvPr>
        </p:nvSpPr>
        <p:spPr/>
        <p:txBody>
          <a:bodyPr>
            <a:normAutofit/>
          </a:bodyPr>
          <a:lstStyle/>
          <a:p>
            <a:pPr marL="0" indent="0">
              <a:buNone/>
            </a:pPr>
            <a:r>
              <a:rPr lang="en-US" dirty="0"/>
              <a:t>Two types of objects are necessary to use shaders: </a:t>
            </a:r>
          </a:p>
          <a:p>
            <a:r>
              <a:rPr lang="en-US" b="1" dirty="0"/>
              <a:t>Shader object:  </a:t>
            </a:r>
            <a:r>
              <a:rPr lang="en-US" dirty="0"/>
              <a:t>A shader object manages a vertex shader or a fragment shader. One shader object is created per shader.</a:t>
            </a:r>
          </a:p>
          <a:p>
            <a:endParaRPr lang="en-US" dirty="0"/>
          </a:p>
          <a:p>
            <a:r>
              <a:rPr lang="en-US" b="1" dirty="0"/>
              <a:t>Program object: </a:t>
            </a:r>
            <a:r>
              <a:rPr lang="en-US" dirty="0"/>
              <a:t>A program object is a container that manages the shader objects. A vertex shader object and a fragment shader object (two shader objects in total)must be attached to a program object in WebGL.</a:t>
            </a:r>
            <a:endParaRPr lang="en-CA" dirty="0"/>
          </a:p>
        </p:txBody>
      </p:sp>
    </p:spTree>
    <p:extLst>
      <p:ext uri="{BB962C8B-B14F-4D97-AF65-F5344CB8AC3E}">
        <p14:creationId xmlns:p14="http://schemas.microsoft.com/office/powerpoint/2010/main" val="6549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3D8766-4D4A-EC05-E133-9396785AE343}"/>
              </a:ext>
            </a:extLst>
          </p:cNvPr>
          <p:cNvPicPr>
            <a:picLocks noChangeAspect="1"/>
          </p:cNvPicPr>
          <p:nvPr/>
        </p:nvPicPr>
        <p:blipFill>
          <a:blip r:embed="rId2"/>
          <a:stretch>
            <a:fillRect/>
          </a:stretch>
        </p:blipFill>
        <p:spPr>
          <a:xfrm>
            <a:off x="1724026" y="376089"/>
            <a:ext cx="8086724" cy="2862411"/>
          </a:xfrm>
          <a:prstGeom prst="rect">
            <a:avLst/>
          </a:prstGeom>
        </p:spPr>
      </p:pic>
      <p:pic>
        <p:nvPicPr>
          <p:cNvPr id="7" name="Picture 6">
            <a:extLst>
              <a:ext uri="{FF2B5EF4-FFF2-40B4-BE49-F238E27FC236}">
                <a16:creationId xmlns:a16="http://schemas.microsoft.com/office/drawing/2014/main" id="{6A1A51AB-C453-84DA-9E53-CDEA065056F9}"/>
              </a:ext>
            </a:extLst>
          </p:cNvPr>
          <p:cNvPicPr>
            <a:picLocks noChangeAspect="1"/>
          </p:cNvPicPr>
          <p:nvPr/>
        </p:nvPicPr>
        <p:blipFill>
          <a:blip r:embed="rId3"/>
          <a:stretch>
            <a:fillRect/>
          </a:stretch>
        </p:blipFill>
        <p:spPr>
          <a:xfrm>
            <a:off x="1724025" y="3524135"/>
            <a:ext cx="8086723" cy="2638540"/>
          </a:xfrm>
          <a:prstGeom prst="rect">
            <a:avLst/>
          </a:prstGeom>
        </p:spPr>
      </p:pic>
    </p:spTree>
    <p:extLst>
      <p:ext uri="{BB962C8B-B14F-4D97-AF65-F5344CB8AC3E}">
        <p14:creationId xmlns:p14="http://schemas.microsoft.com/office/powerpoint/2010/main" val="79512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1D3A62-591D-E750-B37C-8E6E404BB8B4}"/>
              </a:ext>
            </a:extLst>
          </p:cNvPr>
          <p:cNvPicPr>
            <a:picLocks noChangeAspect="1"/>
          </p:cNvPicPr>
          <p:nvPr/>
        </p:nvPicPr>
        <p:blipFill>
          <a:blip r:embed="rId2"/>
          <a:stretch>
            <a:fillRect/>
          </a:stretch>
        </p:blipFill>
        <p:spPr>
          <a:xfrm>
            <a:off x="1533525" y="761893"/>
            <a:ext cx="8153400" cy="3067157"/>
          </a:xfrm>
          <a:prstGeom prst="rect">
            <a:avLst/>
          </a:prstGeom>
        </p:spPr>
      </p:pic>
    </p:spTree>
    <p:extLst>
      <p:ext uri="{BB962C8B-B14F-4D97-AF65-F5344CB8AC3E}">
        <p14:creationId xmlns:p14="http://schemas.microsoft.com/office/powerpoint/2010/main" val="37481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3F1E26-4DF4-E7A8-989E-1A21FD35EDC1}"/>
              </a:ext>
            </a:extLst>
          </p:cNvPr>
          <p:cNvPicPr>
            <a:picLocks noChangeAspect="1"/>
          </p:cNvPicPr>
          <p:nvPr/>
        </p:nvPicPr>
        <p:blipFill>
          <a:blip r:embed="rId2"/>
          <a:stretch>
            <a:fillRect/>
          </a:stretch>
        </p:blipFill>
        <p:spPr>
          <a:xfrm>
            <a:off x="1743075" y="580929"/>
            <a:ext cx="7943850" cy="2619471"/>
          </a:xfrm>
          <a:prstGeom prst="rect">
            <a:avLst/>
          </a:prstGeom>
        </p:spPr>
      </p:pic>
      <p:sp>
        <p:nvSpPr>
          <p:cNvPr id="7" name="TextBox 6">
            <a:extLst>
              <a:ext uri="{FF2B5EF4-FFF2-40B4-BE49-F238E27FC236}">
                <a16:creationId xmlns:a16="http://schemas.microsoft.com/office/drawing/2014/main" id="{A6006239-DB89-2DC6-F01E-16C18F17560A}"/>
              </a:ext>
            </a:extLst>
          </p:cNvPr>
          <p:cNvSpPr txBox="1"/>
          <p:nvPr/>
        </p:nvSpPr>
        <p:spPr>
          <a:xfrm>
            <a:off x="213360" y="3657601"/>
            <a:ext cx="11978640" cy="1200329"/>
          </a:xfrm>
          <a:prstGeom prst="rect">
            <a:avLst/>
          </a:prstGeom>
          <a:noFill/>
        </p:spPr>
        <p:txBody>
          <a:bodyPr wrap="square">
            <a:spAutoFit/>
          </a:bodyPr>
          <a:lstStyle/>
          <a:p>
            <a:pPr algn="l"/>
            <a:r>
              <a:rPr lang="en-US" sz="2400" b="0" i="0" u="none" strike="noStrike" baseline="0" dirty="0">
                <a:latin typeface="StoneSerifStd-Medium"/>
              </a:rPr>
              <a:t>When executing </a:t>
            </a:r>
            <a:r>
              <a:rPr lang="en-US" sz="2000" b="0" i="0" u="none" strike="noStrike" baseline="0" dirty="0" err="1">
                <a:latin typeface="CourierStd"/>
              </a:rPr>
              <a:t>gl.compileShader</a:t>
            </a:r>
            <a:r>
              <a:rPr lang="en-US" sz="2000" b="0" i="0" u="none" strike="noStrike" baseline="0" dirty="0">
                <a:latin typeface="CourierStd"/>
              </a:rPr>
              <a:t>() </a:t>
            </a:r>
            <a:r>
              <a:rPr lang="en-US" sz="2400" b="0" i="0" u="none" strike="noStrike" baseline="0" dirty="0">
                <a:latin typeface="StoneSerifStd-Medium"/>
              </a:rPr>
              <a:t>, it is possible a compilation error occurs due to</a:t>
            </a:r>
            <a:r>
              <a:rPr lang="en-US" sz="2400" dirty="0">
                <a:latin typeface="StoneSerifStd-Medium"/>
              </a:rPr>
              <a:t> </a:t>
            </a:r>
            <a:r>
              <a:rPr lang="en-US" sz="2400" b="0" i="0" u="none" strike="noStrike" baseline="0" dirty="0">
                <a:latin typeface="StoneSerifStd-Medium"/>
              </a:rPr>
              <a:t>mistakes in the source code. You can check for such errors, as well as the status of the shader object, using </a:t>
            </a:r>
            <a:r>
              <a:rPr lang="en-US" sz="2000" b="0" i="0" u="none" strike="noStrike" baseline="0" dirty="0" err="1">
                <a:latin typeface="CourierStd"/>
              </a:rPr>
              <a:t>gl.getShaderParameter</a:t>
            </a:r>
            <a:r>
              <a:rPr lang="en-US" sz="2000" b="0" i="0" u="none" strike="noStrike" baseline="0" dirty="0">
                <a:latin typeface="CourierStd"/>
              </a:rPr>
              <a:t>() </a:t>
            </a:r>
            <a:r>
              <a:rPr lang="en-US" sz="2400" b="0" i="0" u="none" strike="noStrike" baseline="0" dirty="0">
                <a:latin typeface="StoneSerifStd-Medium"/>
              </a:rPr>
              <a:t>.</a:t>
            </a:r>
            <a:endParaRPr lang="en-CA" sz="2400" dirty="0"/>
          </a:p>
        </p:txBody>
      </p:sp>
    </p:spTree>
    <p:extLst>
      <p:ext uri="{BB962C8B-B14F-4D97-AF65-F5344CB8AC3E}">
        <p14:creationId xmlns:p14="http://schemas.microsoft.com/office/powerpoint/2010/main" val="131975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211286-090F-9C67-44E6-192EE7CEFE9C}"/>
              </a:ext>
            </a:extLst>
          </p:cNvPr>
          <p:cNvPicPr>
            <a:picLocks noChangeAspect="1"/>
          </p:cNvPicPr>
          <p:nvPr/>
        </p:nvPicPr>
        <p:blipFill>
          <a:blip r:embed="rId2"/>
          <a:stretch>
            <a:fillRect/>
          </a:stretch>
        </p:blipFill>
        <p:spPr>
          <a:xfrm>
            <a:off x="2124075" y="823809"/>
            <a:ext cx="8229599" cy="2719491"/>
          </a:xfrm>
          <a:prstGeom prst="rect">
            <a:avLst/>
          </a:prstGeom>
        </p:spPr>
      </p:pic>
    </p:spTree>
    <p:extLst>
      <p:ext uri="{BB962C8B-B14F-4D97-AF65-F5344CB8AC3E}">
        <p14:creationId xmlns:p14="http://schemas.microsoft.com/office/powerpoint/2010/main" val="1946058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FA3A84-7A30-5137-A7AB-D12B0D4AECF3}"/>
              </a:ext>
            </a:extLst>
          </p:cNvPr>
          <p:cNvPicPr>
            <a:picLocks noChangeAspect="1"/>
          </p:cNvPicPr>
          <p:nvPr/>
        </p:nvPicPr>
        <p:blipFill>
          <a:blip r:embed="rId2"/>
          <a:stretch>
            <a:fillRect/>
          </a:stretch>
        </p:blipFill>
        <p:spPr>
          <a:xfrm>
            <a:off x="2130828" y="643466"/>
            <a:ext cx="7930343" cy="5571067"/>
          </a:xfrm>
          <a:prstGeom prst="rect">
            <a:avLst/>
          </a:prstGeom>
        </p:spPr>
      </p:pic>
    </p:spTree>
    <p:extLst>
      <p:ext uri="{BB962C8B-B14F-4D97-AF65-F5344CB8AC3E}">
        <p14:creationId xmlns:p14="http://schemas.microsoft.com/office/powerpoint/2010/main" val="338304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85746A-6139-2FA2-6088-C6052169A778}"/>
              </a:ext>
            </a:extLst>
          </p:cNvPr>
          <p:cNvSpPr txBox="1"/>
          <p:nvPr/>
        </p:nvSpPr>
        <p:spPr>
          <a:xfrm>
            <a:off x="249936" y="708767"/>
            <a:ext cx="10713720" cy="369332"/>
          </a:xfrm>
          <a:prstGeom prst="rect">
            <a:avLst/>
          </a:prstGeom>
          <a:noFill/>
        </p:spPr>
        <p:txBody>
          <a:bodyPr wrap="square">
            <a:spAutoFit/>
          </a:bodyPr>
          <a:lstStyle/>
          <a:p>
            <a:pPr algn="l"/>
            <a:r>
              <a:rPr lang="en-US" dirty="0">
                <a:latin typeface="StoneSerifStd-Medium"/>
              </a:rPr>
              <a:t>A </a:t>
            </a:r>
            <a:r>
              <a:rPr lang="en-US" sz="1800" b="0" i="0" u="none" strike="noStrike" baseline="0" dirty="0">
                <a:latin typeface="StoneSerifStd-Medium"/>
              </a:rPr>
              <a:t>program object is a container to store the shader objects and is </a:t>
            </a:r>
            <a:r>
              <a:rPr lang="en-CA" sz="1800" b="0" i="0" u="none" strike="noStrike" baseline="0" dirty="0">
                <a:latin typeface="StoneSerifStd-Medium"/>
              </a:rPr>
              <a:t>created by </a:t>
            </a:r>
            <a:r>
              <a:rPr lang="en-CA" sz="1600" b="0" i="0" u="none" strike="noStrike" baseline="0" dirty="0" err="1">
                <a:latin typeface="CourierStd"/>
              </a:rPr>
              <a:t>gl.createProgram</a:t>
            </a:r>
            <a:r>
              <a:rPr lang="en-CA" sz="1600" b="0" i="0" u="none" strike="noStrike" baseline="0" dirty="0">
                <a:latin typeface="CourierStd"/>
              </a:rPr>
              <a:t>() </a:t>
            </a:r>
            <a:endParaRPr lang="en-CA" dirty="0"/>
          </a:p>
        </p:txBody>
      </p:sp>
      <p:pic>
        <p:nvPicPr>
          <p:cNvPr id="7" name="Picture 6">
            <a:extLst>
              <a:ext uri="{FF2B5EF4-FFF2-40B4-BE49-F238E27FC236}">
                <a16:creationId xmlns:a16="http://schemas.microsoft.com/office/drawing/2014/main" id="{0C5EC619-1C98-749C-8FF8-CD6E5D4D642B}"/>
              </a:ext>
            </a:extLst>
          </p:cNvPr>
          <p:cNvPicPr>
            <a:picLocks noChangeAspect="1"/>
          </p:cNvPicPr>
          <p:nvPr/>
        </p:nvPicPr>
        <p:blipFill>
          <a:blip r:embed="rId2"/>
          <a:stretch>
            <a:fillRect/>
          </a:stretch>
        </p:blipFill>
        <p:spPr>
          <a:xfrm>
            <a:off x="1129421" y="1447701"/>
            <a:ext cx="8681329" cy="2648049"/>
          </a:xfrm>
          <a:prstGeom prst="rect">
            <a:avLst/>
          </a:prstGeom>
        </p:spPr>
      </p:pic>
    </p:spTree>
    <p:extLst>
      <p:ext uri="{BB962C8B-B14F-4D97-AF65-F5344CB8AC3E}">
        <p14:creationId xmlns:p14="http://schemas.microsoft.com/office/powerpoint/2010/main" val="109404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3A6E-4F78-D0B8-F5FE-2D5EF677417A}"/>
              </a:ext>
            </a:extLst>
          </p:cNvPr>
          <p:cNvSpPr>
            <a:spLocks noGrp="1"/>
          </p:cNvSpPr>
          <p:nvPr>
            <p:ph type="title"/>
          </p:nvPr>
        </p:nvSpPr>
        <p:spPr>
          <a:xfrm>
            <a:off x="0" y="98425"/>
            <a:ext cx="10515600" cy="1325563"/>
          </a:xfrm>
        </p:spPr>
        <p:txBody>
          <a:bodyPr/>
          <a:lstStyle/>
          <a:p>
            <a:r>
              <a:rPr lang="en-CA" b="1" dirty="0"/>
              <a:t>Switching Shaders</a:t>
            </a:r>
          </a:p>
        </p:txBody>
      </p:sp>
      <p:sp>
        <p:nvSpPr>
          <p:cNvPr id="3" name="Content Placeholder 2">
            <a:extLst>
              <a:ext uri="{FF2B5EF4-FFF2-40B4-BE49-F238E27FC236}">
                <a16:creationId xmlns:a16="http://schemas.microsoft.com/office/drawing/2014/main" id="{A8624AA1-035E-C2D9-920B-2E7BD582F12E}"/>
              </a:ext>
            </a:extLst>
          </p:cNvPr>
          <p:cNvSpPr>
            <a:spLocks noGrp="1"/>
          </p:cNvSpPr>
          <p:nvPr>
            <p:ph idx="1"/>
          </p:nvPr>
        </p:nvSpPr>
        <p:spPr>
          <a:xfrm>
            <a:off x="97536" y="1253330"/>
            <a:ext cx="11579352" cy="5220621"/>
          </a:xfrm>
        </p:spPr>
        <p:txBody>
          <a:bodyPr>
            <a:normAutofit fontScale="92500" lnSpcReduction="10000"/>
          </a:bodyPr>
          <a:lstStyle/>
          <a:p>
            <a:pPr marL="0" indent="0">
              <a:buNone/>
            </a:pPr>
            <a:r>
              <a:rPr lang="en-US" b="1" dirty="0"/>
              <a:t>1. </a:t>
            </a:r>
            <a:r>
              <a:rPr lang="en-US" dirty="0"/>
              <a:t>Prepare the shaders to draw an object shaded with a single color.</a:t>
            </a:r>
          </a:p>
          <a:p>
            <a:pPr marL="0" indent="0">
              <a:buNone/>
            </a:pPr>
            <a:r>
              <a:rPr lang="en-US" b="1" dirty="0"/>
              <a:t>2. </a:t>
            </a:r>
            <a:r>
              <a:rPr lang="en-US" dirty="0"/>
              <a:t>Prepare the shaders to draw an object with a texture image.</a:t>
            </a:r>
          </a:p>
          <a:p>
            <a:pPr marL="0" indent="0">
              <a:buNone/>
            </a:pPr>
            <a:r>
              <a:rPr lang="en-US" b="1" dirty="0"/>
              <a:t>3. </a:t>
            </a:r>
            <a:r>
              <a:rPr lang="en-US" dirty="0"/>
              <a:t>Create a program object that has the shaders from step 1 with </a:t>
            </a:r>
            <a:r>
              <a:rPr lang="en-US" dirty="0" err="1"/>
              <a:t>createProgram</a:t>
            </a:r>
            <a:r>
              <a:rPr lang="en-US" dirty="0"/>
              <a:t>() .</a:t>
            </a:r>
          </a:p>
          <a:p>
            <a:pPr marL="0" indent="0">
              <a:buNone/>
            </a:pPr>
            <a:r>
              <a:rPr lang="en-US" b="1" dirty="0"/>
              <a:t>4. </a:t>
            </a:r>
            <a:r>
              <a:rPr lang="en-US" dirty="0"/>
              <a:t>Create a program object that has the shaders from step 2 with </a:t>
            </a:r>
            <a:r>
              <a:rPr lang="en-US" dirty="0" err="1"/>
              <a:t>createProgram</a:t>
            </a:r>
            <a:r>
              <a:rPr lang="en-US" dirty="0"/>
              <a:t>() .</a:t>
            </a:r>
          </a:p>
          <a:p>
            <a:pPr marL="0" indent="0">
              <a:buNone/>
            </a:pPr>
            <a:r>
              <a:rPr lang="en-US" b="1" dirty="0"/>
              <a:t>5. </a:t>
            </a:r>
            <a:r>
              <a:rPr lang="en-US" dirty="0"/>
              <a:t>Specify the program object created by step 3 with </a:t>
            </a:r>
            <a:r>
              <a:rPr lang="en-US" dirty="0" err="1"/>
              <a:t>gl.useProgram</a:t>
            </a:r>
            <a:r>
              <a:rPr lang="en-US" dirty="0"/>
              <a:t>() .</a:t>
            </a:r>
          </a:p>
          <a:p>
            <a:pPr marL="0" indent="0">
              <a:buNone/>
            </a:pPr>
            <a:r>
              <a:rPr lang="en-US" b="1" dirty="0"/>
              <a:t>6. </a:t>
            </a:r>
            <a:r>
              <a:rPr lang="en-US" dirty="0"/>
              <a:t>Enable the buffer object after assigning it to the attribute variables.</a:t>
            </a:r>
          </a:p>
          <a:p>
            <a:pPr marL="0" indent="0">
              <a:buNone/>
            </a:pPr>
            <a:r>
              <a:rPr lang="en-US" b="1" dirty="0"/>
              <a:t>7. </a:t>
            </a:r>
            <a:r>
              <a:rPr lang="en-US" dirty="0"/>
              <a:t>Draw a cube (drawn in a single color).</a:t>
            </a:r>
          </a:p>
          <a:p>
            <a:pPr marL="0" indent="0">
              <a:buNone/>
            </a:pPr>
            <a:r>
              <a:rPr lang="en-US" b="1" dirty="0"/>
              <a:t>8. </a:t>
            </a:r>
            <a:r>
              <a:rPr lang="en-US" dirty="0"/>
              <a:t>Specify the program object created in step 4 using </a:t>
            </a:r>
            <a:r>
              <a:rPr lang="en-US" dirty="0" err="1"/>
              <a:t>gl.useProgram</a:t>
            </a:r>
            <a:r>
              <a:rPr lang="en-US" dirty="0"/>
              <a:t>() .</a:t>
            </a:r>
          </a:p>
          <a:p>
            <a:pPr marL="0" indent="0">
              <a:buNone/>
            </a:pPr>
            <a:r>
              <a:rPr lang="en-US" b="1" dirty="0"/>
              <a:t>9. </a:t>
            </a:r>
            <a:r>
              <a:rPr lang="en-US" dirty="0"/>
              <a:t>Enable the buffer object after assigning it to the attribute variables.</a:t>
            </a:r>
          </a:p>
          <a:p>
            <a:pPr marL="0" indent="0">
              <a:buNone/>
            </a:pPr>
            <a:r>
              <a:rPr lang="en-US" b="1" dirty="0"/>
              <a:t>10. </a:t>
            </a:r>
            <a:r>
              <a:rPr lang="en-US" dirty="0"/>
              <a:t>Draw a cube (texture is pasted).</a:t>
            </a:r>
            <a:endParaRPr lang="en-CA" dirty="0"/>
          </a:p>
        </p:txBody>
      </p:sp>
    </p:spTree>
    <p:extLst>
      <p:ext uri="{BB962C8B-B14F-4D97-AF65-F5344CB8AC3E}">
        <p14:creationId xmlns:p14="http://schemas.microsoft.com/office/powerpoint/2010/main" val="3949446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6157E-C651-E84C-B339-B47C0941165F}"/>
              </a:ext>
            </a:extLst>
          </p:cNvPr>
          <p:cNvSpPr>
            <a:spLocks noGrp="1"/>
          </p:cNvSpPr>
          <p:nvPr>
            <p:ph type="title"/>
          </p:nvPr>
        </p:nvSpPr>
        <p:spPr>
          <a:xfrm>
            <a:off x="70104" y="18255"/>
            <a:ext cx="10515600" cy="1325563"/>
          </a:xfrm>
        </p:spPr>
        <p:txBody>
          <a:bodyPr/>
          <a:lstStyle/>
          <a:p>
            <a:r>
              <a:rPr lang="en-CA" b="1" dirty="0"/>
              <a:t>Fog (Atmospheric Effect)</a:t>
            </a:r>
            <a:endParaRPr lang="en-CA" dirty="0"/>
          </a:p>
        </p:txBody>
      </p:sp>
      <p:sp>
        <p:nvSpPr>
          <p:cNvPr id="3" name="Content Placeholder 2">
            <a:extLst>
              <a:ext uri="{FF2B5EF4-FFF2-40B4-BE49-F238E27FC236}">
                <a16:creationId xmlns:a16="http://schemas.microsoft.com/office/drawing/2014/main" id="{C55C10F2-8055-96CC-7742-4ADCF431A791}"/>
              </a:ext>
            </a:extLst>
          </p:cNvPr>
          <p:cNvSpPr>
            <a:spLocks noGrp="1"/>
          </p:cNvSpPr>
          <p:nvPr>
            <p:ph idx="1"/>
          </p:nvPr>
        </p:nvSpPr>
        <p:spPr>
          <a:xfrm>
            <a:off x="246888" y="1825625"/>
            <a:ext cx="11782044" cy="4351338"/>
          </a:xfrm>
        </p:spPr>
        <p:txBody>
          <a:bodyPr/>
          <a:lstStyle/>
          <a:p>
            <a:r>
              <a:rPr lang="en-US" dirty="0"/>
              <a:t>There are various ways to calculate fog, but here we will use a linear computation ( </a:t>
            </a:r>
            <a:r>
              <a:rPr lang="en-US" b="1" dirty="0"/>
              <a:t>linear fog </a:t>
            </a:r>
            <a:r>
              <a:rPr lang="en-US" dirty="0"/>
              <a:t>). </a:t>
            </a:r>
          </a:p>
          <a:p>
            <a:r>
              <a:rPr lang="en-US" dirty="0"/>
              <a:t>The linear fog method determines the density of the fog by setting the starting point (the distance where the object starts to become hazy) and the end point (where the object is completely obscured). The density of the fog between these points is changed linearly.</a:t>
            </a:r>
            <a:endParaRPr lang="en-CA" dirty="0"/>
          </a:p>
        </p:txBody>
      </p:sp>
    </p:spTree>
    <p:extLst>
      <p:ext uri="{BB962C8B-B14F-4D97-AF65-F5344CB8AC3E}">
        <p14:creationId xmlns:p14="http://schemas.microsoft.com/office/powerpoint/2010/main" val="239688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5E59B2-B577-EFB8-49FB-14329C3C7A74}"/>
              </a:ext>
            </a:extLst>
          </p:cNvPr>
          <p:cNvPicPr>
            <a:picLocks noChangeAspect="1"/>
          </p:cNvPicPr>
          <p:nvPr/>
        </p:nvPicPr>
        <p:blipFill>
          <a:blip r:embed="rId2"/>
          <a:stretch>
            <a:fillRect/>
          </a:stretch>
        </p:blipFill>
        <p:spPr>
          <a:xfrm>
            <a:off x="3150338" y="242385"/>
            <a:ext cx="6769517" cy="1323152"/>
          </a:xfrm>
          <a:prstGeom prst="rect">
            <a:avLst/>
          </a:prstGeom>
        </p:spPr>
      </p:pic>
      <p:pic>
        <p:nvPicPr>
          <p:cNvPr id="7" name="Picture 6">
            <a:extLst>
              <a:ext uri="{FF2B5EF4-FFF2-40B4-BE49-F238E27FC236}">
                <a16:creationId xmlns:a16="http://schemas.microsoft.com/office/drawing/2014/main" id="{E7EE6B38-5633-3CC8-E546-197F0F3A4D18}"/>
              </a:ext>
            </a:extLst>
          </p:cNvPr>
          <p:cNvPicPr>
            <a:picLocks noChangeAspect="1"/>
          </p:cNvPicPr>
          <p:nvPr/>
        </p:nvPicPr>
        <p:blipFill>
          <a:blip r:embed="rId3"/>
          <a:stretch>
            <a:fillRect/>
          </a:stretch>
        </p:blipFill>
        <p:spPr>
          <a:xfrm>
            <a:off x="1689097" y="1717963"/>
            <a:ext cx="8813805" cy="2896566"/>
          </a:xfrm>
          <a:prstGeom prst="rect">
            <a:avLst/>
          </a:prstGeom>
        </p:spPr>
      </p:pic>
      <p:pic>
        <p:nvPicPr>
          <p:cNvPr id="9" name="Picture 8">
            <a:extLst>
              <a:ext uri="{FF2B5EF4-FFF2-40B4-BE49-F238E27FC236}">
                <a16:creationId xmlns:a16="http://schemas.microsoft.com/office/drawing/2014/main" id="{84871F7E-F233-948E-0CD0-E755916785EC}"/>
              </a:ext>
            </a:extLst>
          </p:cNvPr>
          <p:cNvPicPr>
            <a:picLocks noChangeAspect="1"/>
          </p:cNvPicPr>
          <p:nvPr/>
        </p:nvPicPr>
        <p:blipFill>
          <a:blip r:embed="rId4"/>
          <a:stretch>
            <a:fillRect/>
          </a:stretch>
        </p:blipFill>
        <p:spPr>
          <a:xfrm>
            <a:off x="4419366" y="3057473"/>
            <a:ext cx="3353268" cy="743054"/>
          </a:xfrm>
          <a:prstGeom prst="rect">
            <a:avLst/>
          </a:prstGeom>
        </p:spPr>
      </p:pic>
      <p:pic>
        <p:nvPicPr>
          <p:cNvPr id="11" name="Picture 10">
            <a:extLst>
              <a:ext uri="{FF2B5EF4-FFF2-40B4-BE49-F238E27FC236}">
                <a16:creationId xmlns:a16="http://schemas.microsoft.com/office/drawing/2014/main" id="{1A9521B5-41DE-3BB8-2DC1-A7031F473E2C}"/>
              </a:ext>
            </a:extLst>
          </p:cNvPr>
          <p:cNvPicPr>
            <a:picLocks noChangeAspect="1"/>
          </p:cNvPicPr>
          <p:nvPr/>
        </p:nvPicPr>
        <p:blipFill>
          <a:blip r:embed="rId4"/>
          <a:stretch>
            <a:fillRect/>
          </a:stretch>
        </p:blipFill>
        <p:spPr>
          <a:xfrm>
            <a:off x="3150338" y="5009408"/>
            <a:ext cx="6456453" cy="1349827"/>
          </a:xfrm>
          <a:prstGeom prst="rect">
            <a:avLst/>
          </a:prstGeom>
        </p:spPr>
      </p:pic>
    </p:spTree>
    <p:extLst>
      <p:ext uri="{BB962C8B-B14F-4D97-AF65-F5344CB8AC3E}">
        <p14:creationId xmlns:p14="http://schemas.microsoft.com/office/powerpoint/2010/main" val="3093914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783A0-C2DC-9F2A-C31E-1F5A9DBCC689}"/>
              </a:ext>
            </a:extLst>
          </p:cNvPr>
          <p:cNvSpPr>
            <a:spLocks noGrp="1"/>
          </p:cNvSpPr>
          <p:nvPr>
            <p:ph type="title"/>
          </p:nvPr>
        </p:nvSpPr>
        <p:spPr/>
        <p:txBody>
          <a:bodyPr/>
          <a:lstStyle/>
          <a:p>
            <a:r>
              <a:rPr lang="en-CA" b="1" dirty="0"/>
              <a:t>HUD (Head Up Display)</a:t>
            </a:r>
            <a:endParaRPr lang="en-CA" dirty="0"/>
          </a:p>
        </p:txBody>
      </p:sp>
      <p:pic>
        <p:nvPicPr>
          <p:cNvPr id="5" name="Picture 4">
            <a:extLst>
              <a:ext uri="{FF2B5EF4-FFF2-40B4-BE49-F238E27FC236}">
                <a16:creationId xmlns:a16="http://schemas.microsoft.com/office/drawing/2014/main" id="{E04B1D4F-E751-DCBA-689C-CA8892E6A983}"/>
              </a:ext>
            </a:extLst>
          </p:cNvPr>
          <p:cNvPicPr>
            <a:picLocks noChangeAspect="1"/>
          </p:cNvPicPr>
          <p:nvPr/>
        </p:nvPicPr>
        <p:blipFill>
          <a:blip r:embed="rId2"/>
          <a:stretch>
            <a:fillRect/>
          </a:stretch>
        </p:blipFill>
        <p:spPr>
          <a:xfrm>
            <a:off x="1238040" y="1947679"/>
            <a:ext cx="3010320" cy="2619741"/>
          </a:xfrm>
          <a:prstGeom prst="rect">
            <a:avLst/>
          </a:prstGeom>
        </p:spPr>
      </p:pic>
      <p:pic>
        <p:nvPicPr>
          <p:cNvPr id="7" name="Picture 6">
            <a:extLst>
              <a:ext uri="{FF2B5EF4-FFF2-40B4-BE49-F238E27FC236}">
                <a16:creationId xmlns:a16="http://schemas.microsoft.com/office/drawing/2014/main" id="{7CD1B7A4-4D23-6CF0-4204-02E650AD9900}"/>
              </a:ext>
            </a:extLst>
          </p:cNvPr>
          <p:cNvPicPr>
            <a:picLocks noChangeAspect="1"/>
          </p:cNvPicPr>
          <p:nvPr/>
        </p:nvPicPr>
        <p:blipFill>
          <a:blip r:embed="rId3"/>
          <a:stretch>
            <a:fillRect/>
          </a:stretch>
        </p:blipFill>
        <p:spPr>
          <a:xfrm>
            <a:off x="5000005" y="1947679"/>
            <a:ext cx="6534769" cy="2938646"/>
          </a:xfrm>
          <a:prstGeom prst="rect">
            <a:avLst/>
          </a:prstGeom>
        </p:spPr>
      </p:pic>
    </p:spTree>
    <p:extLst>
      <p:ext uri="{BB962C8B-B14F-4D97-AF65-F5344CB8AC3E}">
        <p14:creationId xmlns:p14="http://schemas.microsoft.com/office/powerpoint/2010/main" val="1199503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A297-16D4-A9F1-E6A2-CD5027A39837}"/>
              </a:ext>
            </a:extLst>
          </p:cNvPr>
          <p:cNvSpPr>
            <a:spLocks noGrp="1"/>
          </p:cNvSpPr>
          <p:nvPr>
            <p:ph type="title"/>
          </p:nvPr>
        </p:nvSpPr>
        <p:spPr/>
        <p:txBody>
          <a:bodyPr/>
          <a:lstStyle/>
          <a:p>
            <a:r>
              <a:rPr lang="en-CA" dirty="0"/>
              <a:t>Reading Pixel </a:t>
            </a:r>
            <a:r>
              <a:rPr lang="en-CA" dirty="0" err="1"/>
              <a:t>RunTime</a:t>
            </a:r>
            <a:r>
              <a:rPr lang="en-CA" dirty="0"/>
              <a:t> (</a:t>
            </a:r>
            <a:r>
              <a:rPr lang="en-CA" err="1"/>
              <a:t>PickObject</a:t>
            </a:r>
            <a:r>
              <a:rPr lang="en-CA"/>
              <a:t>.js)</a:t>
            </a:r>
            <a:endParaRPr lang="en-CA" dirty="0"/>
          </a:p>
        </p:txBody>
      </p:sp>
      <p:pic>
        <p:nvPicPr>
          <p:cNvPr id="5" name="Picture 4">
            <a:extLst>
              <a:ext uri="{FF2B5EF4-FFF2-40B4-BE49-F238E27FC236}">
                <a16:creationId xmlns:a16="http://schemas.microsoft.com/office/drawing/2014/main" id="{E41400CE-FD4D-1471-A7D3-0E63565CD507}"/>
              </a:ext>
            </a:extLst>
          </p:cNvPr>
          <p:cNvPicPr>
            <a:picLocks noChangeAspect="1"/>
          </p:cNvPicPr>
          <p:nvPr/>
        </p:nvPicPr>
        <p:blipFill>
          <a:blip r:embed="rId2"/>
          <a:stretch>
            <a:fillRect/>
          </a:stretch>
        </p:blipFill>
        <p:spPr>
          <a:xfrm>
            <a:off x="532993" y="1280843"/>
            <a:ext cx="7363232" cy="4281757"/>
          </a:xfrm>
          <a:prstGeom prst="rect">
            <a:avLst/>
          </a:prstGeom>
        </p:spPr>
      </p:pic>
    </p:spTree>
    <p:extLst>
      <p:ext uri="{BB962C8B-B14F-4D97-AF65-F5344CB8AC3E}">
        <p14:creationId xmlns:p14="http://schemas.microsoft.com/office/powerpoint/2010/main" val="471893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491</Words>
  <Application>Microsoft Office PowerPoint</Application>
  <PresentationFormat>Widescreen</PresentationFormat>
  <Paragraphs>32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CourierStd</vt:lpstr>
      <vt:lpstr>StoneSerifStd-Medium</vt:lpstr>
      <vt:lpstr>Office Theme</vt:lpstr>
      <vt:lpstr>Advance Techniques</vt:lpstr>
      <vt:lpstr>Creating Shaders</vt:lpstr>
      <vt:lpstr>Creating Shaders</vt:lpstr>
      <vt:lpstr>PowerPoint Presentation</vt:lpstr>
      <vt:lpstr>PowerPoint Presentation</vt:lpstr>
      <vt:lpstr>PowerPoint Presentation</vt:lpstr>
      <vt:lpstr>PowerPoint Presentation</vt:lpstr>
      <vt:lpstr>PowerPoint Presentation</vt:lpstr>
      <vt:lpstr>PowerPoint Presentation</vt:lpstr>
      <vt:lpstr>Switching Shaders</vt:lpstr>
      <vt:lpstr>Fog (Atmospheric Effect)</vt:lpstr>
      <vt:lpstr>PowerPoint Presentation</vt:lpstr>
      <vt:lpstr>HUD (Head Up Display)</vt:lpstr>
      <vt:lpstr>Reading Pixel RunTime (PickObject.js)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Abbasi, Ubaid</dc:creator>
  <cp:lastModifiedBy>Abbasi, Ubaid</cp:lastModifiedBy>
  <cp:revision>12</cp:revision>
  <dcterms:created xsi:type="dcterms:W3CDTF">2025-12-04T15:45:15Z</dcterms:created>
  <dcterms:modified xsi:type="dcterms:W3CDTF">2025-12-04T18:18:08Z</dcterms:modified>
</cp:coreProperties>
</file>
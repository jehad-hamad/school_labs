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7" r:id="rId33"/>
    <p:sldId id="286" r:id="rId34"/>
    <p:sldId id="292" r:id="rId35"/>
    <p:sldId id="297" r:id="rId36"/>
    <p:sldId id="289" r:id="rId37"/>
    <p:sldId id="290" r:id="rId38"/>
    <p:sldId id="293" r:id="rId39"/>
    <p:sldId id="294" r:id="rId40"/>
    <p:sldId id="295" r:id="rId41"/>
    <p:sldId id="296" r:id="rId42"/>
    <p:sldId id="291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664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892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873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956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954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606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500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9109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73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88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334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C9E02-7BDA-45B7-A72B-D731EF90A75D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6D9EE-817C-48D4-A105-03CB34340F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251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51" y="804007"/>
            <a:ext cx="10931236" cy="42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7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31" r="3604"/>
          <a:stretch/>
        </p:blipFill>
        <p:spPr>
          <a:xfrm>
            <a:off x="143933" y="1372383"/>
            <a:ext cx="11836400" cy="409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37" y="5468683"/>
            <a:ext cx="7526926" cy="14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7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48" r="6041"/>
          <a:stretch/>
        </p:blipFill>
        <p:spPr>
          <a:xfrm>
            <a:off x="321732" y="1134683"/>
            <a:ext cx="11870268" cy="455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5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241" y="1231283"/>
            <a:ext cx="7726051" cy="12458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03" y="3770800"/>
            <a:ext cx="10075726" cy="11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0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62" y="1390816"/>
            <a:ext cx="10314676" cy="4076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48929" y="6019800"/>
            <a:ext cx="93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happens when white light hit red surface at an angle of 0?</a:t>
            </a:r>
            <a:endParaRPr lang="en-CA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7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469" y="1264857"/>
            <a:ext cx="7128676" cy="1136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37" y="2556916"/>
            <a:ext cx="8164126" cy="17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33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49" y="611182"/>
            <a:ext cx="9717301" cy="43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0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19" y="1909762"/>
            <a:ext cx="8811491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5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40" r="5625" b="4191"/>
          <a:stretch/>
        </p:blipFill>
        <p:spPr>
          <a:xfrm>
            <a:off x="415636" y="493816"/>
            <a:ext cx="11671069" cy="56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0" y="137104"/>
            <a:ext cx="11522931" cy="67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59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CE12-A846-09A5-6381-95187642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Lights , Normal and Materials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48125-0CE9-0136-9BF7-7E45AA67F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44" y="1837426"/>
            <a:ext cx="10656711" cy="493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7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C328-A541-ED2C-83E0-6D3D5643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Positional Versus Directional Lights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803F4-8B15-0AC1-FBE6-4CCF6ADBF1D8}"/>
              </a:ext>
            </a:extLst>
          </p:cNvPr>
          <p:cNvSpPr txBox="1"/>
          <p:nvPr/>
        </p:nvSpPr>
        <p:spPr>
          <a:xfrm>
            <a:off x="983411" y="1897811"/>
            <a:ext cx="1082615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200" dirty="0"/>
              <a:t>A light source is called Positional where it location will affect how the scene is lit. A lamp inside the room is a</a:t>
            </a:r>
            <a:r>
              <a:rPr lang="en-CA" sz="3200" b="1" dirty="0"/>
              <a:t> </a:t>
            </a:r>
            <a:r>
              <a:rPr lang="en-CA" sz="3200" b="1" dirty="0">
                <a:solidFill>
                  <a:srgbClr val="FF0000"/>
                </a:solidFill>
              </a:rPr>
              <a:t>positional light source</a:t>
            </a:r>
            <a:r>
              <a:rPr lang="en-CA" sz="3200" b="1" dirty="0"/>
              <a:t>. </a:t>
            </a:r>
            <a:r>
              <a:rPr lang="en-US" sz="3200" dirty="0"/>
              <a:t>The light direction would be different for every vertex. The shader would have to calculate the direction dynamically by subtracting the vertex position from the light position: </a:t>
            </a:r>
            <a:r>
              <a:rPr lang="en-US" sz="2800" b="1" dirty="0">
                <a:solidFill>
                  <a:srgbClr val="FF0000"/>
                </a:solidFill>
              </a:rPr>
              <a:t>vec3 </a:t>
            </a:r>
            <a:r>
              <a:rPr lang="en-US" sz="2800" b="1" dirty="0" err="1">
                <a:solidFill>
                  <a:srgbClr val="FF0000"/>
                </a:solidFill>
              </a:rPr>
              <a:t>lightDir</a:t>
            </a:r>
            <a:r>
              <a:rPr lang="en-US" sz="2800" b="1" dirty="0">
                <a:solidFill>
                  <a:srgbClr val="FF0000"/>
                </a:solidFill>
              </a:rPr>
              <a:t> = normalize(</a:t>
            </a:r>
            <a:r>
              <a:rPr lang="en-US" sz="2800" b="1" dirty="0" err="1">
                <a:solidFill>
                  <a:srgbClr val="FF0000"/>
                </a:solidFill>
              </a:rPr>
              <a:t>u_LightPosition</a:t>
            </a:r>
            <a:r>
              <a:rPr lang="en-US" sz="2800" b="1" dirty="0">
                <a:solidFill>
                  <a:srgbClr val="FF0000"/>
                </a:solidFill>
              </a:rPr>
              <a:t> - </a:t>
            </a:r>
            <a:r>
              <a:rPr lang="en-US" sz="2800" b="1" dirty="0" err="1">
                <a:solidFill>
                  <a:srgbClr val="FF0000"/>
                </a:solidFill>
              </a:rPr>
              <a:t>a_Position</a:t>
            </a:r>
            <a:r>
              <a:rPr lang="en-US" sz="2800" b="1" dirty="0">
                <a:solidFill>
                  <a:srgbClr val="FF0000"/>
                </a:solidFill>
              </a:rPr>
              <a:t>);</a:t>
            </a:r>
            <a:endParaRPr lang="en-CA" sz="4400" b="1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200" b="1" dirty="0">
                <a:solidFill>
                  <a:srgbClr val="FF0000"/>
                </a:solidFill>
              </a:rPr>
              <a:t>Directional lights </a:t>
            </a:r>
            <a:r>
              <a:rPr lang="en-CA" sz="3200" dirty="0"/>
              <a:t>are light the produce the same luminous results regardless of their position. </a:t>
            </a:r>
            <a:r>
              <a:rPr lang="en-US" sz="3200" dirty="0"/>
              <a:t>The shader uses a single, constant vector (</a:t>
            </a:r>
            <a:r>
              <a:rPr lang="en-US" sz="2800" b="1" dirty="0" err="1">
                <a:solidFill>
                  <a:srgbClr val="FF0000"/>
                </a:solidFill>
              </a:rPr>
              <a:t>u_LightDirection</a:t>
            </a:r>
            <a:r>
              <a:rPr lang="en-US" sz="3200" dirty="0"/>
              <a:t>) for every single vertex. It assumes the light rays are parallel, hitting every part of the object from the exact same angle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927108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79B0-F97D-E4A4-25C3-80115FAE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Positional Versus Directional Lights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8CF8-BCC1-2725-F92A-A5FF799D4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689"/>
            <a:ext cx="10515600" cy="4351338"/>
          </a:xfrm>
        </p:spPr>
        <p:txBody>
          <a:bodyPr/>
          <a:lstStyle/>
          <a:p>
            <a:pPr algn="just"/>
            <a:r>
              <a:rPr lang="en-CA" dirty="0"/>
              <a:t> </a:t>
            </a:r>
            <a:r>
              <a:rPr lang="en-CA" sz="3200" dirty="0"/>
              <a:t>A </a:t>
            </a:r>
            <a:r>
              <a:rPr lang="en-CA" sz="3200" b="1" dirty="0">
                <a:solidFill>
                  <a:srgbClr val="FF0000"/>
                </a:solidFill>
              </a:rPr>
              <a:t>position light </a:t>
            </a:r>
            <a:r>
              <a:rPr lang="en-CA" sz="3200" dirty="0"/>
              <a:t>is modeled by a point in space while a directional light is modeled with a vector that indicates its direction. It is common to use a normalized vector for this purpose, given that this simplifies mathematical operations.</a:t>
            </a:r>
          </a:p>
          <a:p>
            <a:pPr marL="0" indent="0" algn="just">
              <a:buNone/>
            </a:pP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E93B9-9635-85A9-798C-B11C40038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23" y="3238421"/>
            <a:ext cx="10634133" cy="355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4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4224-1D62-DA4D-7404-3BE5B746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8F0D-B10C-C309-BEEE-4F68A7E9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Normals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25F9-6CE9-327D-B33A-FF377DF26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240"/>
            <a:ext cx="10515600" cy="4351338"/>
          </a:xfrm>
        </p:spPr>
        <p:txBody>
          <a:bodyPr/>
          <a:lstStyle/>
          <a:p>
            <a:pPr algn="just"/>
            <a:r>
              <a:rPr lang="en-CA" dirty="0"/>
              <a:t> </a:t>
            </a:r>
            <a:r>
              <a:rPr lang="en-CA" sz="3200" dirty="0"/>
              <a:t>Normals are vectors that are perpendicular to the surface we want to illuminate.</a:t>
            </a:r>
          </a:p>
          <a:p>
            <a:pPr algn="just"/>
            <a:r>
              <a:rPr lang="en-CA" sz="3200" dirty="0"/>
              <a:t> Normals represent the orientation of the surface and therefore critical to modeling the interaction between light source and the object.</a:t>
            </a:r>
          </a:p>
          <a:p>
            <a:pPr algn="just"/>
            <a:r>
              <a:rPr lang="en-CA" sz="3200" dirty="0"/>
              <a:t> Given that each vertex has an associated normal vector, we can use the cross product to calculate normals.</a:t>
            </a:r>
          </a:p>
          <a:p>
            <a:pPr marL="0" indent="0" algn="just">
              <a:buNone/>
            </a:pP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764195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4E5DA-295F-AD99-EB81-B4BA8AC4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25" y="643467"/>
            <a:ext cx="1039595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19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6B66C-7532-CDF9-2769-33BCD9681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29" y="643467"/>
            <a:ext cx="1065374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8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A718-6A5E-59E0-983E-B3334D01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"Smooth" Look (Averaged Normal)</a:t>
            </a:r>
            <a:endParaRPr lang="en-CA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7B81D3-D96C-5698-2FAB-41D1F064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49" y="1762654"/>
            <a:ext cx="11136702" cy="396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24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C23F-0A7D-0761-B1E6-812CF5CC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"Sharp" Look (Split Normals)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15CAF-8193-CDDF-3E7B-9817A7879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3" y="2177985"/>
            <a:ext cx="11162581" cy="40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35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A7C0-CC97-CF4C-EBC6-F3807F1A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Lights, Normals , Materials in 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D51EE-606A-F7C4-C03B-0E022691C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2691"/>
            <a:ext cx="10792178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5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EAFC-DF7E-21A7-CE85-FCB381B8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60" y="0"/>
            <a:ext cx="11913079" cy="1325563"/>
          </a:xfrm>
        </p:spPr>
        <p:txBody>
          <a:bodyPr>
            <a:normAutofit/>
          </a:bodyPr>
          <a:lstStyle/>
          <a:p>
            <a:r>
              <a:rPr lang="en-CA" sz="4000" b="1" dirty="0"/>
              <a:t>Parallelism &amp; Difference b/w Attributes and Uniforms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F307F-5BCA-AE0C-E7B8-49851B65F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0" y="1690688"/>
            <a:ext cx="1106786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23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4AE3-1282-B49D-299D-0AE91519A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b="1" dirty="0"/>
              <a:t>Shading Methods &amp; Light-Reflection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012C5-8921-7E9F-C208-221FE3295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18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CA" sz="3600" dirty="0"/>
              <a:t> Shading refers to the type of interpolation that is performed to obtain the final color for every fragment in the scene.</a:t>
            </a:r>
          </a:p>
          <a:p>
            <a:pPr algn="just"/>
            <a:r>
              <a:rPr lang="en-CA" sz="3600" dirty="0"/>
              <a:t> Once the shading model is established, the lighting model determines how the normals, materials and lights need to be combined to produce the final color.</a:t>
            </a:r>
          </a:p>
          <a:p>
            <a:pPr algn="just"/>
            <a:r>
              <a:rPr lang="en-CA" sz="3600" dirty="0"/>
              <a:t> Lighting models in computer graphics are also referred as reflection models.</a:t>
            </a:r>
          </a:p>
        </p:txBody>
      </p:sp>
    </p:spTree>
    <p:extLst>
      <p:ext uri="{BB962C8B-B14F-4D97-AF65-F5344CB8AC3E}">
        <p14:creationId xmlns:p14="http://schemas.microsoft.com/office/powerpoint/2010/main" val="48709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D658-6B13-B94C-C01E-0DD004E38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7B32-F1C1-BEC3-A0CC-20B520B1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b="1" dirty="0"/>
              <a:t>Shading/ Interpolation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DB32-1683-55AF-832C-20237B14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18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CA" sz="3600" dirty="0"/>
              <a:t> </a:t>
            </a:r>
            <a:r>
              <a:rPr lang="en-CA" sz="4000" dirty="0"/>
              <a:t>The </a:t>
            </a:r>
            <a:r>
              <a:rPr lang="en-CA" sz="4000" b="1" dirty="0" err="1">
                <a:solidFill>
                  <a:srgbClr val="FF0000"/>
                </a:solidFill>
              </a:rPr>
              <a:t>Goraud</a:t>
            </a:r>
            <a:r>
              <a:rPr lang="en-CA" sz="4000" b="1" dirty="0">
                <a:solidFill>
                  <a:srgbClr val="FF0000"/>
                </a:solidFill>
              </a:rPr>
              <a:t> interpolation </a:t>
            </a:r>
            <a:r>
              <a:rPr lang="en-CA" sz="4000" dirty="0"/>
              <a:t>calculates the final color in the </a:t>
            </a:r>
            <a:r>
              <a:rPr lang="en-CA" sz="4000" b="1" dirty="0">
                <a:solidFill>
                  <a:srgbClr val="FF0000"/>
                </a:solidFill>
              </a:rPr>
              <a:t>Vertex shader. </a:t>
            </a:r>
            <a:r>
              <a:rPr lang="en-CA" sz="4000" dirty="0"/>
              <a:t>The vertex normals are used to perform calculation.</a:t>
            </a:r>
          </a:p>
          <a:p>
            <a:pPr algn="just"/>
            <a:endParaRPr lang="en-CA" sz="4000" dirty="0"/>
          </a:p>
          <a:p>
            <a:pPr algn="just"/>
            <a:r>
              <a:rPr lang="en-CA" sz="4000" dirty="0"/>
              <a:t> Then Using Varying variable, the final color for the vertex is passed to the Fragment shader.</a:t>
            </a:r>
          </a:p>
        </p:txBody>
      </p:sp>
    </p:spTree>
    <p:extLst>
      <p:ext uri="{BB962C8B-B14F-4D97-AF65-F5344CB8AC3E}">
        <p14:creationId xmlns:p14="http://schemas.microsoft.com/office/powerpoint/2010/main" val="1021939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02E280-C279-0034-DA26-C0EBD09F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22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179CF-08C3-F3D4-375B-693F9EF9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EC8D-3DED-06FE-D840-11133E3D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b="1" dirty="0"/>
              <a:t>Shading/ Interpolation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8328B-402B-5C16-61B4-FCBE2C87B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183"/>
            <a:ext cx="10515600" cy="4967554"/>
          </a:xfrm>
        </p:spPr>
        <p:txBody>
          <a:bodyPr>
            <a:normAutofit/>
          </a:bodyPr>
          <a:lstStyle/>
          <a:p>
            <a:pPr algn="just"/>
            <a:r>
              <a:rPr lang="en-CA" sz="3600" dirty="0"/>
              <a:t> </a:t>
            </a:r>
            <a:r>
              <a:rPr lang="en-CA" sz="4000" dirty="0"/>
              <a:t>The Phong interpolation calculates the final color in the </a:t>
            </a:r>
            <a:r>
              <a:rPr lang="en-CA" sz="4000" b="1" dirty="0">
                <a:solidFill>
                  <a:srgbClr val="FF0000"/>
                </a:solidFill>
              </a:rPr>
              <a:t>Fragment shader</a:t>
            </a:r>
            <a:r>
              <a:rPr lang="en-CA" sz="4000" dirty="0"/>
              <a:t>. </a:t>
            </a:r>
          </a:p>
          <a:p>
            <a:pPr algn="just"/>
            <a:r>
              <a:rPr lang="en-CA" sz="4000" dirty="0"/>
              <a:t> Each vertex normal is passed from the vertex shader to the fragment shader using a varying variable.</a:t>
            </a:r>
          </a:p>
          <a:p>
            <a:pPr algn="just"/>
            <a:r>
              <a:rPr lang="en-CA" sz="4000" dirty="0"/>
              <a:t> Each Fragment will have its own normal.</a:t>
            </a:r>
          </a:p>
          <a:p>
            <a:pPr algn="just"/>
            <a:r>
              <a:rPr lang="en-CA" sz="4000" dirty="0"/>
              <a:t> Fragment normals are then used to calculate the final color in the Fragment shader.</a:t>
            </a:r>
          </a:p>
        </p:txBody>
      </p:sp>
    </p:spTree>
    <p:extLst>
      <p:ext uri="{BB962C8B-B14F-4D97-AF65-F5344CB8AC3E}">
        <p14:creationId xmlns:p14="http://schemas.microsoft.com/office/powerpoint/2010/main" val="4046182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FDDE-328D-A66C-5E03-564EE1516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Light-Reflection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90B7-6497-CCE4-50F4-EC67EC93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 Lambertian reflections is a common model for diffuse reflection.</a:t>
            </a:r>
          </a:p>
          <a:p>
            <a:r>
              <a:rPr lang="en-CA" dirty="0"/>
              <a:t> Incident light ray is reflected in many angles instead of just 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82C71-18DC-2E68-5E2D-FAFD783C4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1" y="3429000"/>
            <a:ext cx="8151224" cy="328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18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C9F963-2587-9942-1DEF-AEC7291B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154"/>
            <a:ext cx="12192000" cy="637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73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C6A662-6FAF-4113-4EDC-58B933AC1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27" y="526868"/>
            <a:ext cx="4193178" cy="583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DB8B0A-F843-A62B-26D6-16C35C85E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57" y="1454919"/>
            <a:ext cx="4637317" cy="583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E0D513-E2A2-0681-FDDD-0F1FDB853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3611" y="2552323"/>
            <a:ext cx="4534990" cy="411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2EDCC7-E5C5-6A8F-7B6B-525A0F908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465" y="3480374"/>
            <a:ext cx="4737463" cy="4111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07FF73-C77F-071F-BF5F-6E5AD3119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465" y="4527871"/>
            <a:ext cx="5253449" cy="58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7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D03A-36B7-4D8D-0964-82753737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Phong Reflection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BF43-0310-F5ED-1A6F-3B1DAB87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 </a:t>
            </a:r>
            <a:r>
              <a:rPr lang="en-CA" sz="4000" dirty="0"/>
              <a:t>Surface reflects the light as the sum of three types of reflection</a:t>
            </a:r>
          </a:p>
          <a:p>
            <a:pPr lvl="1"/>
            <a:endParaRPr lang="en-CA" sz="4000" dirty="0">
              <a:solidFill>
                <a:srgbClr val="FF0000"/>
              </a:solidFill>
            </a:endParaRPr>
          </a:p>
          <a:p>
            <a:pPr lvl="1"/>
            <a:r>
              <a:rPr lang="en-CA" sz="4000" dirty="0">
                <a:solidFill>
                  <a:srgbClr val="FF0000"/>
                </a:solidFill>
              </a:rPr>
              <a:t>Ambient</a:t>
            </a:r>
          </a:p>
          <a:p>
            <a:pPr lvl="1"/>
            <a:r>
              <a:rPr lang="en-CA" sz="4000" dirty="0">
                <a:solidFill>
                  <a:srgbClr val="FF0000"/>
                </a:solidFill>
              </a:rPr>
              <a:t> Diffuse </a:t>
            </a:r>
          </a:p>
          <a:p>
            <a:pPr lvl="1"/>
            <a:r>
              <a:rPr lang="en-CA" sz="4000" dirty="0">
                <a:solidFill>
                  <a:srgbClr val="FF0000"/>
                </a:solidFill>
              </a:rPr>
              <a:t> Specular</a:t>
            </a:r>
          </a:p>
        </p:txBody>
      </p:sp>
    </p:spTree>
    <p:extLst>
      <p:ext uri="{BB962C8B-B14F-4D97-AF65-F5344CB8AC3E}">
        <p14:creationId xmlns:p14="http://schemas.microsoft.com/office/powerpoint/2010/main" val="4091336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614AF-2034-9573-59CC-D892DB21F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43"/>
            <a:ext cx="12192000" cy="666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66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A5766-6B1D-AEF8-EEF2-846183A84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218"/>
            <a:ext cx="12192000" cy="597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48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D46D66-562A-D6CB-B13A-D71B274AF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95252"/>
            <a:ext cx="11234057" cy="44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27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CBE79C2-0F17-3FA0-DA5D-604AA9C02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2878"/>
            <a:ext cx="11926389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97F54-D355-B633-79E2-EEF1C5880420}"/>
              </a:ext>
            </a:extLst>
          </p:cNvPr>
          <p:cNvSpPr txBox="1"/>
          <p:nvPr/>
        </p:nvSpPr>
        <p:spPr>
          <a:xfrm>
            <a:off x="287382" y="1843930"/>
            <a:ext cx="120613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The reflected vector </a:t>
            </a:r>
            <a:r>
              <a:rPr lang="en-US" sz="3600" b="1" i="1" u="sng" dirty="0">
                <a:solidFill>
                  <a:srgbClr val="FF0000"/>
                </a:solidFill>
              </a:rPr>
              <a:t>R</a:t>
            </a:r>
            <a:r>
              <a:rPr lang="en-US" sz="3600" b="1" dirty="0">
                <a:solidFill>
                  <a:srgbClr val="FF0000"/>
                </a:solidFill>
              </a:rPr>
              <a:t> in the Phong shading model is the direction a perfect mirror reflection of the light travels away from the surface</a:t>
            </a:r>
            <a:endParaRPr lang="en-CA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305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B0359-EDE5-0C9A-8209-E400CCD8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844201"/>
            <a:ext cx="5630091" cy="418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FC3A81-9CC5-73F3-0E30-B7D43D2A4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512" y="2209792"/>
            <a:ext cx="5159828" cy="41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0CE8CD-386C-2EFF-F07D-328351CFA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098" y="3785051"/>
            <a:ext cx="4604656" cy="34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46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A6B998-0973-0F0B-A364-090546314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2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11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2EAB2-D46D-2F4E-A995-0EC89090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18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4392-C310-7AB1-1CA0-B962B9F7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Shading Due to Ambient Light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F8592-D6F6-7C96-CCEE-6A87BE29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238" y="1936677"/>
            <a:ext cx="7726051" cy="12458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2DCB6B-2FA8-B919-6545-CC32E08AA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76194"/>
            <a:ext cx="10075726" cy="11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92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885828-460C-C988-4DC0-A81691610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6" y="0"/>
            <a:ext cx="11900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71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F35F-E6FD-61EA-BF24-B109E69F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Position Lighting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CBC2-67D0-3BAD-CE8A-C01163E9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 </a:t>
            </a:r>
            <a:r>
              <a:rPr lang="en-US" dirty="0"/>
              <a:t>In contrast to a directional light, the direction of the light from a point light source differs at each position in the 3D scene.</a:t>
            </a:r>
          </a:p>
          <a:p>
            <a:r>
              <a:rPr lang="en-US" dirty="0"/>
              <a:t> When calculating shading, you need to calculate the light direction at the specific position on the surface where the light hits.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2D902-453F-9F4B-3092-E3BBB8B9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3682884"/>
            <a:ext cx="7286625" cy="298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91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7C2B-DCC6-2E8F-DBB4-54147F5A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D85CF-A484-2257-85C4-1BA9FE7F8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781" y="280903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/>
              <a:t>The light direction changes, you need to pass the position of the light source and then calculate the light direction at each vertex position.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9773391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762D20-4E97-3D7F-D0A4-AF77649D7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5" y="0"/>
            <a:ext cx="9919657" cy="677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30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DBD23-ACFF-BE6E-F475-07DA3D4FA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Vertex vs Position Calculation</a:t>
            </a:r>
          </a:p>
        </p:txBody>
      </p:sp>
      <p:pic>
        <p:nvPicPr>
          <p:cNvPr id="5" name="Picture 4" descr="A white sphere with black background&#10;&#10;AI-generated content may be incorrect.">
            <a:extLst>
              <a:ext uri="{FF2B5EF4-FFF2-40B4-BE49-F238E27FC236}">
                <a16:creationId xmlns:a16="http://schemas.microsoft.com/office/drawing/2014/main" id="{E6782538-C60E-5140-1B8A-55A6DB57E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73330"/>
            <a:ext cx="6780700" cy="350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83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1B8C21-A2F3-F607-0E47-1209863E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11556"/>
            <a:ext cx="10877909" cy="313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08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650F-FB07-FDAA-D908-6BDD7E0B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Inverse Transpose Matrix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DD875-B50E-5DD5-6845-707CBFBD0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matrix that performs a coordinate transformation on an object is called a </a:t>
            </a:r>
            <a:r>
              <a:rPr lang="en-US" b="1" dirty="0"/>
              <a:t>model matrix</a:t>
            </a:r>
            <a:r>
              <a:rPr lang="en-US" dirty="0"/>
              <a:t>. </a:t>
            </a:r>
          </a:p>
          <a:p>
            <a:r>
              <a:rPr lang="en-US" dirty="0"/>
              <a:t>The normal direction can be calculated by multiplying the normal by the </a:t>
            </a:r>
            <a:r>
              <a:rPr lang="en-US" b="1" dirty="0"/>
              <a:t>inverse transpose matrix </a:t>
            </a:r>
            <a:r>
              <a:rPr lang="en-US" dirty="0"/>
              <a:t>of a model matrix.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4899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A1258D-33B0-98E7-7C85-5386CC59D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35" y="279285"/>
            <a:ext cx="9196657" cy="2265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9DC39C-8F6A-02C5-1768-DD2810EE3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03" y="3171732"/>
            <a:ext cx="603969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55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DE6DE7-A5E0-0FA9-5302-73B2D995A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816" y="457200"/>
            <a:ext cx="523036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10140</TotalTime>
  <Words>662</Words>
  <Application>Microsoft Office PowerPoint</Application>
  <PresentationFormat>Widescreen</PresentationFormat>
  <Paragraphs>48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Lights , Normal and Materials</vt:lpstr>
      <vt:lpstr>Positional Versus Directional Lights</vt:lpstr>
      <vt:lpstr>Positional Versus Directional Lights</vt:lpstr>
      <vt:lpstr>Normals</vt:lpstr>
      <vt:lpstr>PowerPoint Presentation</vt:lpstr>
      <vt:lpstr>PowerPoint Presentation</vt:lpstr>
      <vt:lpstr>The "Smooth" Look (Averaged Normal)</vt:lpstr>
      <vt:lpstr>The "Sharp" Look (Split Normals)</vt:lpstr>
      <vt:lpstr>Lights, Normals , Materials in the Pipeline</vt:lpstr>
      <vt:lpstr>Parallelism &amp; Difference b/w Attributes and Uniforms</vt:lpstr>
      <vt:lpstr>Shading Methods &amp; Light-Reflection Models</vt:lpstr>
      <vt:lpstr>Shading/ Interpolation Methods</vt:lpstr>
      <vt:lpstr>PowerPoint Presentation</vt:lpstr>
      <vt:lpstr>Shading/ Interpolation Methods</vt:lpstr>
      <vt:lpstr>Light-Reflection Models</vt:lpstr>
      <vt:lpstr>PowerPoint Presentation</vt:lpstr>
      <vt:lpstr>PowerPoint Presentation</vt:lpstr>
      <vt:lpstr>Phong Reflection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Shading Due to Ambient Light</vt:lpstr>
      <vt:lpstr>PowerPoint Presentation</vt:lpstr>
      <vt:lpstr>Position Lighting</vt:lpstr>
      <vt:lpstr>PowerPoint Presentation</vt:lpstr>
      <vt:lpstr>PowerPoint Presentation</vt:lpstr>
      <vt:lpstr>Vertex vs Position Calculation</vt:lpstr>
      <vt:lpstr>PowerPoint Presentation</vt:lpstr>
      <vt:lpstr>Inverse Transpose Matrix</vt:lpstr>
      <vt:lpstr>PowerPoint Presentation</vt:lpstr>
      <vt:lpstr>PowerPoint Presentation</vt:lpstr>
    </vt:vector>
  </TitlesOfParts>
  <Company>GPRC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Abbasi, Ubaid</dc:creator>
  <cp:lastModifiedBy>Abbasi, Ubaid</cp:lastModifiedBy>
  <cp:revision>31</cp:revision>
  <dcterms:created xsi:type="dcterms:W3CDTF">2018-12-03T16:12:37Z</dcterms:created>
  <dcterms:modified xsi:type="dcterms:W3CDTF">2025-11-25T16:43:58Z</dcterms:modified>
</cp:coreProperties>
</file>